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9"/>
  </p:notesMasterIdLst>
  <p:handoutMasterIdLst>
    <p:handoutMasterId r:id="rId20"/>
  </p:handoutMasterIdLst>
  <p:sldIdLst>
    <p:sldId id="317" r:id="rId5"/>
    <p:sldId id="307" r:id="rId6"/>
    <p:sldId id="308" r:id="rId7"/>
    <p:sldId id="278" r:id="rId8"/>
    <p:sldId id="263" r:id="rId9"/>
    <p:sldId id="310" r:id="rId10"/>
    <p:sldId id="311" r:id="rId11"/>
    <p:sldId id="312" r:id="rId12"/>
    <p:sldId id="316" r:id="rId13"/>
    <p:sldId id="314" r:id="rId14"/>
    <p:sldId id="315" r:id="rId15"/>
    <p:sldId id="318" r:id="rId16"/>
    <p:sldId id="319" r:id="rId17"/>
    <p:sldId id="30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636A58"/>
    <a:srgbClr val="505A47"/>
    <a:srgbClr val="D1D8B7"/>
    <a:srgbClr val="A09D79"/>
    <a:srgbClr val="AD5C4D"/>
    <a:srgbClr val="543E35"/>
    <a:srgbClr val="637700"/>
    <a:srgbClr val="FFF4ED"/>
    <a:srgbClr val="5E6A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987" autoAdjust="0"/>
  </p:normalViewPr>
  <p:slideViewPr>
    <p:cSldViewPr snapToGrid="0">
      <p:cViewPr>
        <p:scale>
          <a:sx n="66" d="100"/>
          <a:sy n="66" d="100"/>
        </p:scale>
        <p:origin x="1330" y="302"/>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9/13/2025</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9/13/2025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67541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23081334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34724997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10</a:t>
            </a:fld>
            <a:endParaRPr lang="en-US" noProof="0" dirty="0"/>
          </a:p>
        </p:txBody>
      </p:sp>
    </p:spTree>
    <p:extLst>
      <p:ext uri="{BB962C8B-B14F-4D97-AF65-F5344CB8AC3E}">
        <p14:creationId xmlns:p14="http://schemas.microsoft.com/office/powerpoint/2010/main" val="42099865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23327485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49C53-C673-19BC-BDB7-3B15729D5F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2E0D2A-941E-38FF-D84F-1EB636BDAE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B9C564-4C5B-B7E3-C2A7-21515512AF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7F6358-06D9-B247-D326-0B67EA7CCFB7}"/>
              </a:ext>
            </a:extLst>
          </p:cNvPr>
          <p:cNvSpPr>
            <a:spLocks noGrp="1"/>
          </p:cNvSpPr>
          <p:nvPr>
            <p:ph type="sldNum" sz="quarter" idx="5"/>
          </p:nvPr>
        </p:nvSpPr>
        <p:spPr/>
        <p:txBody>
          <a:bodyPr/>
          <a:lstStyle/>
          <a:p>
            <a:fld id="{7C366290-4595-5745-A50F-D5EC13BAC604}" type="slidenum">
              <a:rPr lang="en-US" noProof="0" smtClean="0"/>
              <a:t>12</a:t>
            </a:fld>
            <a:endParaRPr lang="en-US" noProof="0" dirty="0"/>
          </a:p>
        </p:txBody>
      </p:sp>
    </p:spTree>
    <p:extLst>
      <p:ext uri="{BB962C8B-B14F-4D97-AF65-F5344CB8AC3E}">
        <p14:creationId xmlns:p14="http://schemas.microsoft.com/office/powerpoint/2010/main" val="33273265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DF175-21C6-4362-213E-B7A89F361D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CA98AB-2B1B-9E46-922E-011FCA6CAB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77B82E-9827-187F-3935-6118AD6A46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223255-CEB9-C78F-C21D-3C551609AB59}"/>
              </a:ext>
            </a:extLst>
          </p:cNvPr>
          <p:cNvSpPr>
            <a:spLocks noGrp="1"/>
          </p:cNvSpPr>
          <p:nvPr>
            <p:ph type="sldNum" sz="quarter" idx="5"/>
          </p:nvPr>
        </p:nvSpPr>
        <p:spPr/>
        <p:txBody>
          <a:bodyPr/>
          <a:lstStyle/>
          <a:p>
            <a:fld id="{7C366290-4595-5745-A50F-D5EC13BAC604}" type="slidenum">
              <a:rPr lang="en-US" noProof="0" smtClean="0"/>
              <a:t>13</a:t>
            </a:fld>
            <a:endParaRPr lang="en-US" noProof="0" dirty="0"/>
          </a:p>
        </p:txBody>
      </p:sp>
    </p:spTree>
    <p:extLst>
      <p:ext uri="{BB962C8B-B14F-4D97-AF65-F5344CB8AC3E}">
        <p14:creationId xmlns:p14="http://schemas.microsoft.com/office/powerpoint/2010/main" val="10517416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14</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hyperlink" Target="mailto:tusharsutar27@gmail.com" TargetMode="External"/><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pPr algn="r"/>
            <a:r>
              <a:rPr lang="en-US" dirty="0"/>
              <a:t>Marketing Mix </a:t>
            </a:r>
            <a:br>
              <a:rPr lang="en-US" dirty="0"/>
            </a:br>
            <a:r>
              <a:rPr lang="en-US" dirty="0"/>
              <a:t>Modelling Analysis</a:t>
            </a: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Content Placeholder 10">
            <a:extLst>
              <a:ext uri="{FF2B5EF4-FFF2-40B4-BE49-F238E27FC236}">
                <a16:creationId xmlns:a16="http://schemas.microsoft.com/office/drawing/2014/main" id="{C537E6C2-48F9-CF07-568B-9D69847E623F}"/>
              </a:ext>
            </a:extLst>
          </p:cNvPr>
          <p:cNvGraphicFramePr>
            <a:graphicFrameLocks noGrp="1"/>
          </p:cNvGraphicFramePr>
          <p:nvPr>
            <p:ph idx="1"/>
            <p:extLst>
              <p:ext uri="{D42A27DB-BD31-4B8C-83A1-F6EECF244321}">
                <p14:modId xmlns:p14="http://schemas.microsoft.com/office/powerpoint/2010/main" val="1859186212"/>
              </p:ext>
            </p:extLst>
          </p:nvPr>
        </p:nvGraphicFramePr>
        <p:xfrm>
          <a:off x="6217921" y="1230374"/>
          <a:ext cx="6873240" cy="4114800"/>
        </p:xfrm>
        <a:graphic>
          <a:graphicData uri="http://schemas.openxmlformats.org/drawingml/2006/table">
            <a:tbl>
              <a:tblPr firstRow="1" bandRow="1">
                <a:tableStyleId>{2D5ABB26-0587-4C30-8999-92F81FD0307C}</a:tableStyleId>
              </a:tblPr>
              <a:tblGrid>
                <a:gridCol w="6873240">
                  <a:extLst>
                    <a:ext uri="{9D8B030D-6E8A-4147-A177-3AD203B41FA5}">
                      <a16:colId xmlns:a16="http://schemas.microsoft.com/office/drawing/2014/main" val="1947974516"/>
                    </a:ext>
                  </a:extLst>
                </a:gridCol>
              </a:tblGrid>
              <a:tr h="329186">
                <a:tc>
                  <a:txBody>
                    <a:bodyPr/>
                    <a:lstStyle/>
                    <a:p>
                      <a:r>
                        <a:rPr lang="en-US" sz="3600" b="1" dirty="0"/>
                        <a:t>1. Introduction</a:t>
                      </a:r>
                    </a:p>
                  </a:txBody>
                  <a:tcPr/>
                </a:tc>
                <a:extLst>
                  <a:ext uri="{0D108BD9-81ED-4DB2-BD59-A6C34878D82A}">
                    <a16:rowId xmlns:a16="http://schemas.microsoft.com/office/drawing/2014/main" val="2692152061"/>
                  </a:ext>
                </a:extLst>
              </a:tr>
              <a:tr h="370840">
                <a:tc>
                  <a:txBody>
                    <a:bodyPr/>
                    <a:lstStyle/>
                    <a:p>
                      <a:r>
                        <a:rPr lang="en-IN" sz="3200" b="1" dirty="0"/>
                        <a:t>2. Objective</a:t>
                      </a:r>
                    </a:p>
                  </a:txBody>
                  <a:tcPr/>
                </a:tc>
                <a:extLst>
                  <a:ext uri="{0D108BD9-81ED-4DB2-BD59-A6C34878D82A}">
                    <a16:rowId xmlns:a16="http://schemas.microsoft.com/office/drawing/2014/main" val="921549678"/>
                  </a:ext>
                </a:extLst>
              </a:tr>
              <a:tr h="370840">
                <a:tc>
                  <a:txBody>
                    <a:bodyPr/>
                    <a:lstStyle/>
                    <a:p>
                      <a:r>
                        <a:rPr lang="en-IN" sz="3200" b="1" dirty="0"/>
                        <a:t>3. Dataset Overview</a:t>
                      </a:r>
                    </a:p>
                  </a:txBody>
                  <a:tcPr/>
                </a:tc>
                <a:extLst>
                  <a:ext uri="{0D108BD9-81ED-4DB2-BD59-A6C34878D82A}">
                    <a16:rowId xmlns:a16="http://schemas.microsoft.com/office/drawing/2014/main" val="1287386543"/>
                  </a:ext>
                </a:extLst>
              </a:tr>
              <a:tr h="370840">
                <a:tc>
                  <a:txBody>
                    <a:bodyPr/>
                    <a:lstStyle/>
                    <a:p>
                      <a:r>
                        <a:rPr lang="en-IN" sz="3200" b="1" dirty="0"/>
                        <a:t>4. Approach</a:t>
                      </a:r>
                    </a:p>
                  </a:txBody>
                  <a:tcPr/>
                </a:tc>
                <a:extLst>
                  <a:ext uri="{0D108BD9-81ED-4DB2-BD59-A6C34878D82A}">
                    <a16:rowId xmlns:a16="http://schemas.microsoft.com/office/drawing/2014/main" val="1190327888"/>
                  </a:ext>
                </a:extLst>
              </a:tr>
              <a:tr h="370840">
                <a:tc>
                  <a:txBody>
                    <a:bodyPr/>
                    <a:lstStyle/>
                    <a:p>
                      <a:r>
                        <a:rPr lang="en-IN" sz="3200" b="1" dirty="0"/>
                        <a:t>5. Exploratory Analysis</a:t>
                      </a:r>
                    </a:p>
                  </a:txBody>
                  <a:tcPr/>
                </a:tc>
                <a:extLst>
                  <a:ext uri="{0D108BD9-81ED-4DB2-BD59-A6C34878D82A}">
                    <a16:rowId xmlns:a16="http://schemas.microsoft.com/office/drawing/2014/main" val="2978527029"/>
                  </a:ext>
                </a:extLst>
              </a:tr>
              <a:tr h="370840">
                <a:tc>
                  <a:txBody>
                    <a:bodyPr/>
                    <a:lstStyle/>
                    <a:p>
                      <a:r>
                        <a:rPr lang="en-IN" sz="3200" b="1" dirty="0"/>
                        <a:t>6. Model Building and Results</a:t>
                      </a:r>
                    </a:p>
                  </a:txBody>
                  <a:tcPr/>
                </a:tc>
                <a:extLst>
                  <a:ext uri="{0D108BD9-81ED-4DB2-BD59-A6C34878D82A}">
                    <a16:rowId xmlns:a16="http://schemas.microsoft.com/office/drawing/2014/main" val="3260979134"/>
                  </a:ext>
                </a:extLst>
              </a:tr>
              <a:tr h="370840">
                <a:tc>
                  <a:txBody>
                    <a:bodyPr/>
                    <a:lstStyle/>
                    <a:p>
                      <a:r>
                        <a:rPr lang="en-IN" sz="3200" b="1" dirty="0"/>
                        <a:t>7. Conclusion &amp; Recommendations</a:t>
                      </a:r>
                    </a:p>
                  </a:txBody>
                  <a:tcPr/>
                </a:tc>
                <a:extLst>
                  <a:ext uri="{0D108BD9-81ED-4DB2-BD59-A6C34878D82A}">
                    <a16:rowId xmlns:a16="http://schemas.microsoft.com/office/drawing/2014/main" val="2470852350"/>
                  </a:ext>
                </a:extLst>
              </a:tr>
            </a:tbl>
          </a:graphicData>
        </a:graphic>
      </p:graphicFrame>
    </p:spTree>
    <p:extLst>
      <p:ext uri="{BB962C8B-B14F-4D97-AF65-F5344CB8AC3E}">
        <p14:creationId xmlns:p14="http://schemas.microsoft.com/office/powerpoint/2010/main" val="586478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EE45-3924-5A20-4FDE-7EA6BBEBD06F}"/>
              </a:ext>
            </a:extLst>
          </p:cNvPr>
          <p:cNvSpPr>
            <a:spLocks noGrp="1"/>
          </p:cNvSpPr>
          <p:nvPr>
            <p:ph type="title"/>
          </p:nvPr>
        </p:nvSpPr>
        <p:spPr>
          <a:xfrm>
            <a:off x="327660" y="335280"/>
            <a:ext cx="11574780" cy="6309360"/>
          </a:xfrm>
        </p:spPr>
        <p:txBody>
          <a:bodyPr anchor="t"/>
          <a:lstStyle/>
          <a:p>
            <a:r>
              <a:rPr lang="en-US" sz="5400" b="1" dirty="0">
                <a:latin typeface="Aparajita" panose="02020603050405020304" pitchFamily="18" charset="0"/>
                <a:cs typeface="Aparajita" panose="02020603050405020304" pitchFamily="18" charset="0"/>
              </a:rPr>
              <a:t>Objective / Problem Statement</a:t>
            </a:r>
            <a:br>
              <a:rPr lang="en-US" sz="3600" b="1" dirty="0">
                <a:latin typeface="Aparajita" panose="02020603050405020304" pitchFamily="18" charset="0"/>
                <a:cs typeface="Aparajita" panose="02020603050405020304" pitchFamily="18" charset="0"/>
              </a:rPr>
            </a:br>
            <a:br>
              <a:rPr lang="en-US" sz="3200" b="1" dirty="0">
                <a:latin typeface="Aparajita" panose="02020603050405020304" pitchFamily="18" charset="0"/>
                <a:cs typeface="Aparajita" panose="02020603050405020304" pitchFamily="18" charset="0"/>
              </a:rPr>
            </a:br>
            <a:r>
              <a:rPr lang="en-US" sz="3200" b="1" dirty="0">
                <a:latin typeface="Aparajita" panose="02020603050405020304" pitchFamily="18" charset="0"/>
                <a:cs typeface="Aparajita" panose="02020603050405020304" pitchFamily="18" charset="0"/>
              </a:rPr>
              <a:t>Business Question : </a:t>
            </a:r>
            <a:br>
              <a:rPr lang="en-US" sz="3200" dirty="0">
                <a:latin typeface="Aparajita" panose="02020603050405020304" pitchFamily="18" charset="0"/>
                <a:cs typeface="Aparajita" panose="02020603050405020304" pitchFamily="18" charset="0"/>
              </a:rPr>
            </a:br>
            <a:r>
              <a:rPr lang="en-US" sz="2800" dirty="0">
                <a:latin typeface="Aparajita" panose="02020603050405020304" pitchFamily="18" charset="0"/>
                <a:cs typeface="Aparajita" panose="02020603050405020304" pitchFamily="18" charset="0"/>
              </a:rPr>
              <a:t>1. How can we quantify the impact of different marketing channels (e.g., TV, digital, print, promotions) on sales?</a:t>
            </a:r>
            <a:br>
              <a:rPr lang="en-US" sz="2800" dirty="0">
                <a:latin typeface="Aparajita" panose="02020603050405020304" pitchFamily="18" charset="0"/>
                <a:cs typeface="Aparajita" panose="02020603050405020304" pitchFamily="18" charset="0"/>
              </a:rPr>
            </a:br>
            <a:r>
              <a:rPr lang="en-US" sz="2800" dirty="0">
                <a:latin typeface="Aparajita" panose="02020603050405020304" pitchFamily="18" charset="0"/>
                <a:cs typeface="Aparajita" panose="02020603050405020304" pitchFamily="18" charset="0"/>
              </a:rPr>
              <a:t>2. Which channels drive the most ROI, and where should future marketing budgets be allocated?</a:t>
            </a:r>
            <a:br>
              <a:rPr lang="en-US" sz="3200" dirty="0">
                <a:latin typeface="Aparajita" panose="02020603050405020304" pitchFamily="18" charset="0"/>
                <a:cs typeface="Aparajita" panose="02020603050405020304" pitchFamily="18" charset="0"/>
              </a:rPr>
            </a:br>
            <a:br>
              <a:rPr lang="en-US" sz="2400" dirty="0">
                <a:latin typeface="Aparajita" panose="02020603050405020304" pitchFamily="18" charset="0"/>
                <a:cs typeface="Aparajita" panose="02020603050405020304" pitchFamily="18" charset="0"/>
              </a:rPr>
            </a:br>
            <a:br>
              <a:rPr lang="en-US" sz="3200" dirty="0"/>
            </a:br>
            <a:r>
              <a:rPr lang="en-US" sz="3200" b="1" dirty="0">
                <a:latin typeface="Aparajita" panose="02020603050405020304" pitchFamily="18" charset="0"/>
                <a:cs typeface="Aparajita" panose="02020603050405020304" pitchFamily="18" charset="0"/>
              </a:rPr>
              <a:t>Why It Matters :</a:t>
            </a:r>
            <a:br>
              <a:rPr lang="en-US" sz="2400" dirty="0">
                <a:latin typeface="Aparajita" panose="02020603050405020304" pitchFamily="18" charset="0"/>
                <a:cs typeface="Aparajita" panose="02020603050405020304" pitchFamily="18" charset="0"/>
              </a:rPr>
            </a:br>
            <a:r>
              <a:rPr lang="en-US" sz="2800" dirty="0">
                <a:latin typeface="Aparajita" panose="02020603050405020304" pitchFamily="18" charset="0"/>
                <a:cs typeface="Aparajita" panose="02020603050405020304" pitchFamily="18" charset="0"/>
              </a:rPr>
              <a:t>Marketing spends are significant, but without measurement, it’s unclear which channels truly generate value.</a:t>
            </a:r>
            <a:br>
              <a:rPr lang="en-US" sz="2800" dirty="0">
                <a:latin typeface="Aparajita" panose="02020603050405020304" pitchFamily="18" charset="0"/>
                <a:cs typeface="Aparajita" panose="02020603050405020304" pitchFamily="18" charset="0"/>
              </a:rPr>
            </a:br>
            <a:br>
              <a:rPr lang="en-US" sz="2800" dirty="0">
                <a:latin typeface="Aparajita" panose="02020603050405020304" pitchFamily="18" charset="0"/>
                <a:cs typeface="Aparajita" panose="02020603050405020304" pitchFamily="18" charset="0"/>
              </a:rPr>
            </a:br>
            <a:r>
              <a:rPr lang="en-US" sz="2800" dirty="0">
                <a:latin typeface="Aparajita" panose="02020603050405020304" pitchFamily="18" charset="0"/>
                <a:cs typeface="Aparajita" panose="02020603050405020304" pitchFamily="18" charset="0"/>
              </a:rPr>
              <a:t>A Market Mix Model (MMM) helps optimize spend allocation by separating the contribution of each channel from external factors (seasonality, pricing, competition).</a:t>
            </a:r>
            <a:br>
              <a:rPr lang="en-US" sz="2800" dirty="0">
                <a:latin typeface="Aparajita" panose="02020603050405020304" pitchFamily="18" charset="0"/>
                <a:cs typeface="Aparajita" panose="02020603050405020304" pitchFamily="18" charset="0"/>
              </a:rPr>
            </a:br>
            <a:br>
              <a:rPr lang="en-US" sz="2800" dirty="0">
                <a:latin typeface="Aparajita" panose="02020603050405020304" pitchFamily="18" charset="0"/>
                <a:cs typeface="Aparajita" panose="02020603050405020304" pitchFamily="18" charset="0"/>
              </a:rPr>
            </a:br>
            <a:r>
              <a:rPr lang="en-US" sz="2800" dirty="0">
                <a:latin typeface="Aparajita" panose="02020603050405020304" pitchFamily="18" charset="0"/>
                <a:cs typeface="Aparajita" panose="02020603050405020304" pitchFamily="18" charset="0"/>
              </a:rPr>
              <a:t>Results guide </a:t>
            </a:r>
            <a:r>
              <a:rPr lang="en-US" sz="2800" b="1" dirty="0">
                <a:latin typeface="Aparajita" panose="02020603050405020304" pitchFamily="18" charset="0"/>
                <a:cs typeface="Aparajita" panose="02020603050405020304" pitchFamily="18" charset="0"/>
              </a:rPr>
              <a:t>data-driven budgeting decisions</a:t>
            </a:r>
            <a:r>
              <a:rPr lang="en-US" sz="2800" dirty="0">
                <a:latin typeface="Aparajita" panose="02020603050405020304" pitchFamily="18" charset="0"/>
                <a:cs typeface="Aparajita" panose="02020603050405020304" pitchFamily="18" charset="0"/>
              </a:rPr>
              <a:t>, leading to higher efficiency and revenue growth.</a:t>
            </a:r>
            <a:br>
              <a:rPr lang="en-US" sz="2800" dirty="0">
                <a:latin typeface="Aparajita" panose="02020603050405020304" pitchFamily="18" charset="0"/>
                <a:cs typeface="Aparajita" panose="02020603050405020304" pitchFamily="18" charset="0"/>
              </a:rPr>
            </a:br>
            <a:endParaRPr lang="en-US" sz="2800" dirty="0">
              <a:latin typeface="Aparajita" panose="02020603050405020304" pitchFamily="18" charset="0"/>
              <a:cs typeface="Aparajita" panose="02020603050405020304" pitchFamily="18" charset="0"/>
            </a:endParaRPr>
          </a:p>
        </p:txBody>
      </p:sp>
    </p:spTree>
    <p:extLst>
      <p:ext uri="{BB962C8B-B14F-4D97-AF65-F5344CB8AC3E}">
        <p14:creationId xmlns:p14="http://schemas.microsoft.com/office/powerpoint/2010/main" val="2222324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377AF6-2477-81EC-D1BC-43FD72DF18F6}"/>
              </a:ext>
            </a:extLst>
          </p:cNvPr>
          <p:cNvSpPr>
            <a:spLocks noGrp="1"/>
          </p:cNvSpPr>
          <p:nvPr>
            <p:ph type="title"/>
          </p:nvPr>
        </p:nvSpPr>
        <p:spPr>
          <a:xfrm>
            <a:off x="248208" y="162047"/>
            <a:ext cx="11673717" cy="6528120"/>
          </a:xfrm>
        </p:spPr>
        <p:txBody>
          <a:bodyPr anchor="t"/>
          <a:lstStyle/>
          <a:p>
            <a:r>
              <a:rPr lang="en-US" sz="4000" b="1" dirty="0">
                <a:latin typeface="Aparajita" panose="02020603050405020304" pitchFamily="18" charset="0"/>
                <a:cs typeface="Aparajita" panose="02020603050405020304" pitchFamily="18" charset="0"/>
              </a:rPr>
              <a:t>Dataset Overview</a:t>
            </a:r>
            <a:br>
              <a:rPr lang="en-US" sz="3200" b="1" dirty="0">
                <a:latin typeface="Aparajita" panose="02020603050405020304" pitchFamily="18" charset="0"/>
                <a:cs typeface="Aparajita" panose="02020603050405020304" pitchFamily="18" charset="0"/>
              </a:rPr>
            </a:br>
            <a:br>
              <a:rPr lang="en-US" sz="2000" b="1" dirty="0">
                <a:latin typeface="Aparajita" panose="02020603050405020304" pitchFamily="18" charset="0"/>
                <a:cs typeface="Aparajita" panose="02020603050405020304" pitchFamily="18" charset="0"/>
              </a:rPr>
            </a:br>
            <a:r>
              <a:rPr lang="en-US" sz="2400" b="1" dirty="0">
                <a:latin typeface="Aparajita" panose="02020603050405020304" pitchFamily="18" charset="0"/>
                <a:cs typeface="Aparajita" panose="02020603050405020304" pitchFamily="18" charset="0"/>
              </a:rPr>
              <a:t>Source : </a:t>
            </a:r>
            <a:br>
              <a:rPr lang="en-US" sz="2400" b="1" dirty="0">
                <a:latin typeface="Aparajita" panose="02020603050405020304" pitchFamily="18" charset="0"/>
                <a:cs typeface="Aparajita" panose="02020603050405020304" pitchFamily="18" charset="0"/>
              </a:rPr>
            </a:br>
            <a:r>
              <a:rPr lang="en-US" sz="2000" dirty="0">
                <a:latin typeface="Aparajita" panose="02020603050405020304" pitchFamily="18" charset="0"/>
                <a:cs typeface="Aparajita" panose="02020603050405020304" pitchFamily="18" charset="0"/>
              </a:rPr>
              <a:t>Case study dataset (</a:t>
            </a:r>
            <a:r>
              <a:rPr lang="en-US" sz="2400" dirty="0">
                <a:latin typeface="Aparajita" panose="02020603050405020304" pitchFamily="18" charset="0"/>
                <a:cs typeface="Aparajita" panose="02020603050405020304" pitchFamily="18" charset="0"/>
              </a:rPr>
              <a:t>Case_Study_Input_File.xlsx</a:t>
            </a:r>
            <a:r>
              <a:rPr lang="en-US" sz="2000" dirty="0">
                <a:latin typeface="Aparajita" panose="02020603050405020304" pitchFamily="18" charset="0"/>
                <a:cs typeface="Aparajita" panose="02020603050405020304" pitchFamily="18" charset="0"/>
              </a:rPr>
              <a:t>).</a:t>
            </a:r>
            <a:br>
              <a:rPr lang="en-US" sz="2000" dirty="0">
                <a:latin typeface="Aparajita" panose="02020603050405020304" pitchFamily="18" charset="0"/>
                <a:cs typeface="Aparajita" panose="02020603050405020304" pitchFamily="18" charset="0"/>
              </a:rPr>
            </a:br>
            <a:r>
              <a:rPr lang="en-US" sz="2400" dirty="0">
                <a:latin typeface="Aparajita" panose="02020603050405020304" pitchFamily="18" charset="0"/>
                <a:cs typeface="Aparajita" panose="02020603050405020304" pitchFamily="18" charset="0"/>
              </a:rPr>
              <a:t>Contains </a:t>
            </a:r>
            <a:r>
              <a:rPr lang="en-US" sz="2400" b="1" dirty="0">
                <a:latin typeface="Aparajita" panose="02020603050405020304" pitchFamily="18" charset="0"/>
                <a:cs typeface="Aparajita" panose="02020603050405020304" pitchFamily="18" charset="0"/>
              </a:rPr>
              <a:t>48 rows</a:t>
            </a:r>
            <a:r>
              <a:rPr lang="en-US" sz="2400" dirty="0">
                <a:latin typeface="Aparajita" panose="02020603050405020304" pitchFamily="18" charset="0"/>
                <a:cs typeface="Aparajita" panose="02020603050405020304" pitchFamily="18" charset="0"/>
              </a:rPr>
              <a:t> (time periods, likely weeks/months) and </a:t>
            </a:r>
            <a:r>
              <a:rPr lang="en-US" sz="2400" b="1" dirty="0">
                <a:latin typeface="Aparajita" panose="02020603050405020304" pitchFamily="18" charset="0"/>
                <a:cs typeface="Aparajita" panose="02020603050405020304" pitchFamily="18" charset="0"/>
              </a:rPr>
              <a:t>41 columns</a:t>
            </a:r>
            <a:r>
              <a:rPr lang="en-US" sz="2400" dirty="0">
                <a:latin typeface="Aparajita" panose="02020603050405020304" pitchFamily="18" charset="0"/>
                <a:cs typeface="Aparajita" panose="02020603050405020304" pitchFamily="18" charset="0"/>
              </a:rPr>
              <a:t> (sales, marketing, distribution, etc.)</a:t>
            </a:r>
            <a:br>
              <a:rPr lang="en-US" sz="2000" dirty="0">
                <a:latin typeface="Aparajita" panose="02020603050405020304" pitchFamily="18" charset="0"/>
                <a:cs typeface="Aparajita" panose="02020603050405020304" pitchFamily="18" charset="0"/>
              </a:rPr>
            </a:br>
            <a:br>
              <a:rPr lang="en-US" sz="2000" dirty="0">
                <a:latin typeface="Aparajita" panose="02020603050405020304" pitchFamily="18" charset="0"/>
                <a:cs typeface="Aparajita" panose="02020603050405020304" pitchFamily="18" charset="0"/>
              </a:rPr>
            </a:br>
            <a:br>
              <a:rPr lang="en-US" sz="2000" dirty="0">
                <a:latin typeface="Aparajita" panose="02020603050405020304" pitchFamily="18" charset="0"/>
                <a:cs typeface="Aparajita" panose="02020603050405020304" pitchFamily="18" charset="0"/>
              </a:rPr>
            </a:br>
            <a:r>
              <a:rPr lang="en-US" sz="2400" b="1" dirty="0">
                <a:latin typeface="Aparajita" panose="02020603050405020304" pitchFamily="18" charset="0"/>
                <a:cs typeface="Aparajita" panose="02020603050405020304" pitchFamily="18" charset="0"/>
              </a:rPr>
              <a:t>Key Features : </a:t>
            </a:r>
            <a:br>
              <a:rPr lang="en-US" sz="2000" dirty="0">
                <a:latin typeface="Aparajita" panose="02020603050405020304" pitchFamily="18" charset="0"/>
                <a:cs typeface="Aparajita" panose="02020603050405020304" pitchFamily="18" charset="0"/>
              </a:rPr>
            </a:br>
            <a:r>
              <a:rPr lang="en-US" sz="2000" b="1" dirty="0">
                <a:latin typeface="Aparajita" panose="02020603050405020304" pitchFamily="18" charset="0"/>
                <a:cs typeface="Aparajita" panose="02020603050405020304" pitchFamily="18" charset="0"/>
              </a:rPr>
              <a:t>Sales KPIs : </a:t>
            </a:r>
            <a:r>
              <a:rPr lang="en-US" sz="2000" dirty="0" err="1">
                <a:latin typeface="Aparajita" panose="02020603050405020304" pitchFamily="18" charset="0"/>
                <a:cs typeface="Aparajita" panose="02020603050405020304" pitchFamily="18" charset="0"/>
              </a:rPr>
              <a:t>kpi_val_sales_mn</a:t>
            </a:r>
            <a:r>
              <a:rPr lang="en-US" sz="2000" dirty="0">
                <a:latin typeface="Aparajita" panose="02020603050405020304" pitchFamily="18" charset="0"/>
                <a:cs typeface="Aparajita" panose="02020603050405020304" pitchFamily="18" charset="0"/>
              </a:rPr>
              <a:t>, </a:t>
            </a:r>
            <a:r>
              <a:rPr lang="en-US" sz="2000" dirty="0" err="1">
                <a:latin typeface="Aparajita" panose="02020603050405020304" pitchFamily="18" charset="0"/>
                <a:cs typeface="Aparajita" panose="02020603050405020304" pitchFamily="18" charset="0"/>
              </a:rPr>
              <a:t>vol_sales_mn</a:t>
            </a:r>
            <a:br>
              <a:rPr lang="en-US" sz="2000" dirty="0">
                <a:latin typeface="Aparajita" panose="02020603050405020304" pitchFamily="18" charset="0"/>
                <a:cs typeface="Aparajita" panose="02020603050405020304" pitchFamily="18" charset="0"/>
              </a:rPr>
            </a:br>
            <a:r>
              <a:rPr lang="en-IN" sz="2000" b="1" dirty="0">
                <a:latin typeface="Aparajita" panose="02020603050405020304" pitchFamily="18" charset="0"/>
                <a:cs typeface="Aparajita" panose="02020603050405020304" pitchFamily="18" charset="0"/>
              </a:rPr>
              <a:t>Marketing Inputs : </a:t>
            </a:r>
            <a:r>
              <a:rPr lang="en-IN" sz="2000" dirty="0" err="1">
                <a:latin typeface="Aparajita" panose="02020603050405020304" pitchFamily="18" charset="0"/>
                <a:cs typeface="Aparajita" panose="02020603050405020304" pitchFamily="18" charset="0"/>
              </a:rPr>
              <a:t>trade_promo_spends_mn</a:t>
            </a:r>
            <a:r>
              <a:rPr lang="en-IN" sz="2000" dirty="0">
                <a:latin typeface="Aparajita" panose="02020603050405020304" pitchFamily="18" charset="0"/>
                <a:cs typeface="Aparajita" panose="02020603050405020304" pitchFamily="18" charset="0"/>
              </a:rPr>
              <a:t>, </a:t>
            </a:r>
            <a:r>
              <a:rPr lang="en-IN" sz="2000" dirty="0" err="1">
                <a:latin typeface="Aparajita" panose="02020603050405020304" pitchFamily="18" charset="0"/>
                <a:cs typeface="Aparajita" panose="02020603050405020304" pitchFamily="18" charset="0"/>
              </a:rPr>
              <a:t>consumer_promo_spends_mn</a:t>
            </a:r>
            <a:r>
              <a:rPr lang="en-IN" sz="2000" dirty="0">
                <a:latin typeface="Aparajita" panose="02020603050405020304" pitchFamily="18" charset="0"/>
                <a:cs typeface="Aparajita" panose="02020603050405020304" pitchFamily="18" charset="0"/>
              </a:rPr>
              <a:t>, </a:t>
            </a:r>
            <a:r>
              <a:rPr lang="en-IN" sz="2000" dirty="0" err="1">
                <a:latin typeface="Aparajita" panose="02020603050405020304" pitchFamily="18" charset="0"/>
                <a:cs typeface="Aparajita" panose="02020603050405020304" pitchFamily="18" charset="0"/>
              </a:rPr>
              <a:t>newspaper_spends_mn</a:t>
            </a:r>
            <a:r>
              <a:rPr lang="en-IN" sz="2000" dirty="0">
                <a:latin typeface="Aparajita" panose="02020603050405020304" pitchFamily="18" charset="0"/>
                <a:cs typeface="Aparajita" panose="02020603050405020304" pitchFamily="18" charset="0"/>
              </a:rPr>
              <a:t>, </a:t>
            </a:r>
            <a:r>
              <a:rPr lang="en-IN" sz="2000" dirty="0" err="1">
                <a:latin typeface="Aparajita" panose="02020603050405020304" pitchFamily="18" charset="0"/>
                <a:cs typeface="Aparajita" panose="02020603050405020304" pitchFamily="18" charset="0"/>
              </a:rPr>
              <a:t>tv_total_grp</a:t>
            </a:r>
            <a:r>
              <a:rPr lang="en-IN" sz="2000" dirty="0">
                <a:latin typeface="Aparajita" panose="02020603050405020304" pitchFamily="18" charset="0"/>
                <a:cs typeface="Aparajita" panose="02020603050405020304" pitchFamily="18" charset="0"/>
              </a:rPr>
              <a:t>, digital spends, 	  	             impressions, etc.</a:t>
            </a:r>
            <a:br>
              <a:rPr lang="en-US" sz="2000" dirty="0">
                <a:latin typeface="Aparajita" panose="02020603050405020304" pitchFamily="18" charset="0"/>
                <a:cs typeface="Aparajita" panose="02020603050405020304" pitchFamily="18" charset="0"/>
              </a:rPr>
            </a:br>
            <a:r>
              <a:rPr lang="en-IN" sz="2000" b="1" dirty="0">
                <a:latin typeface="Aparajita" panose="02020603050405020304" pitchFamily="18" charset="0"/>
                <a:cs typeface="Aparajita" panose="02020603050405020304" pitchFamily="18" charset="0"/>
              </a:rPr>
              <a:t>Distribution Metrics</a:t>
            </a:r>
            <a:r>
              <a:rPr lang="en-IN" sz="2000" dirty="0">
                <a:latin typeface="Aparajita" panose="02020603050405020304" pitchFamily="18" charset="0"/>
                <a:cs typeface="Aparajita" panose="02020603050405020304" pitchFamily="18" charset="0"/>
              </a:rPr>
              <a:t> :</a:t>
            </a:r>
            <a:r>
              <a:rPr lang="en-IN" sz="2000" dirty="0" err="1">
                <a:latin typeface="Aparajita" panose="02020603050405020304" pitchFamily="18" charset="0"/>
                <a:cs typeface="Aparajita" panose="02020603050405020304" pitchFamily="18" charset="0"/>
              </a:rPr>
              <a:t>wtd_dist_max</a:t>
            </a:r>
            <a:r>
              <a:rPr lang="en-IN" sz="2000" dirty="0">
                <a:latin typeface="Aparajita" panose="02020603050405020304" pitchFamily="18" charset="0"/>
                <a:cs typeface="Aparajita" panose="02020603050405020304" pitchFamily="18" charset="0"/>
              </a:rPr>
              <a:t>, </a:t>
            </a:r>
            <a:r>
              <a:rPr lang="en-IN" sz="2000" dirty="0" err="1">
                <a:latin typeface="Aparajita" panose="02020603050405020304" pitchFamily="18" charset="0"/>
                <a:cs typeface="Aparajita" panose="02020603050405020304" pitchFamily="18" charset="0"/>
              </a:rPr>
              <a:t>num_dist_max</a:t>
            </a:r>
            <a:br>
              <a:rPr lang="en-IN" sz="2000" dirty="0">
                <a:latin typeface="Aparajita" panose="02020603050405020304" pitchFamily="18" charset="0"/>
                <a:cs typeface="Aparajita" panose="02020603050405020304" pitchFamily="18" charset="0"/>
              </a:rPr>
            </a:br>
            <a:r>
              <a:rPr lang="en-US" sz="2000" b="1" dirty="0">
                <a:latin typeface="Aparajita" panose="02020603050405020304" pitchFamily="18" charset="0"/>
                <a:cs typeface="Aparajita" panose="02020603050405020304" pitchFamily="18" charset="0"/>
              </a:rPr>
              <a:t>Other Controls</a:t>
            </a:r>
            <a:r>
              <a:rPr lang="en-US" sz="2000" dirty="0">
                <a:latin typeface="Aparajita" panose="02020603050405020304" pitchFamily="18" charset="0"/>
                <a:cs typeface="Aparajita" panose="02020603050405020304" pitchFamily="18" charset="0"/>
              </a:rPr>
              <a:t> : newspaper impressions, possibly seasonality or external factors</a:t>
            </a:r>
            <a:br>
              <a:rPr lang="en-US" sz="2000" dirty="0"/>
            </a:br>
            <a:br>
              <a:rPr lang="en-US" sz="2000" dirty="0"/>
            </a:br>
            <a:br>
              <a:rPr lang="en-US" sz="2000" dirty="0">
                <a:latin typeface="Aparajita" panose="02020603050405020304" pitchFamily="18" charset="0"/>
                <a:cs typeface="Aparajita" panose="02020603050405020304" pitchFamily="18" charset="0"/>
              </a:rPr>
            </a:br>
            <a:r>
              <a:rPr lang="en-IN" sz="2000" b="1" dirty="0">
                <a:latin typeface="Aparajita" panose="02020603050405020304" pitchFamily="18" charset="0"/>
                <a:cs typeface="Aparajita" panose="02020603050405020304" pitchFamily="18" charset="0"/>
              </a:rPr>
              <a:t>Data Quality Checks :</a:t>
            </a:r>
            <a:br>
              <a:rPr lang="en-US" sz="2000" dirty="0">
                <a:latin typeface="Aparajita" panose="02020603050405020304" pitchFamily="18" charset="0"/>
                <a:cs typeface="Aparajita" panose="02020603050405020304" pitchFamily="18" charset="0"/>
              </a:rPr>
            </a:br>
            <a:r>
              <a:rPr lang="en-US" sz="2000" dirty="0">
                <a:latin typeface="Aparajita" panose="02020603050405020304" pitchFamily="18" charset="0"/>
                <a:cs typeface="Aparajita" panose="02020603050405020304" pitchFamily="18" charset="0"/>
              </a:rPr>
              <a:t>1.</a:t>
            </a:r>
            <a:r>
              <a:rPr lang="en-IN" sz="2000" dirty="0">
                <a:latin typeface="Aparajita" panose="02020603050405020304" pitchFamily="18" charset="0"/>
                <a:cs typeface="Aparajita" panose="02020603050405020304" pitchFamily="18" charset="0"/>
              </a:rPr>
              <a:t> No missing values found</a:t>
            </a:r>
            <a:br>
              <a:rPr lang="en-US" sz="2000" dirty="0">
                <a:latin typeface="Aparajita" panose="02020603050405020304" pitchFamily="18" charset="0"/>
                <a:cs typeface="Aparajita" panose="02020603050405020304" pitchFamily="18" charset="0"/>
              </a:rPr>
            </a:br>
            <a:r>
              <a:rPr lang="en-US" sz="2000" dirty="0">
                <a:latin typeface="Aparajita" panose="02020603050405020304" pitchFamily="18" charset="0"/>
                <a:cs typeface="Aparajita" panose="02020603050405020304" pitchFamily="18" charset="0"/>
              </a:rPr>
              <a:t>2. </a:t>
            </a:r>
            <a:r>
              <a:rPr lang="en-IN" sz="2000" dirty="0">
                <a:latin typeface="Aparajita" panose="02020603050405020304" pitchFamily="18" charset="0"/>
                <a:cs typeface="Aparajita" panose="02020603050405020304" pitchFamily="18" charset="0"/>
              </a:rPr>
              <a:t>No duplicate rows detected</a:t>
            </a:r>
            <a:br>
              <a:rPr lang="en-US" sz="2000" dirty="0">
                <a:latin typeface="Aparajita" panose="02020603050405020304" pitchFamily="18" charset="0"/>
                <a:cs typeface="Aparajita" panose="02020603050405020304" pitchFamily="18" charset="0"/>
              </a:rPr>
            </a:br>
            <a:r>
              <a:rPr lang="en-US" sz="2000" dirty="0">
                <a:latin typeface="Aparajita" panose="02020603050405020304" pitchFamily="18" charset="0"/>
                <a:cs typeface="Aparajita" panose="02020603050405020304" pitchFamily="18" charset="0"/>
              </a:rPr>
              <a:t>3. Preprocessing: removed duplicates, checked for nulls, ensured data consistency</a:t>
            </a:r>
            <a:br>
              <a:rPr lang="en-US" sz="2000" dirty="0">
                <a:latin typeface="Aparajita" panose="02020603050405020304" pitchFamily="18" charset="0"/>
                <a:cs typeface="Aparajita" panose="02020603050405020304" pitchFamily="18" charset="0"/>
              </a:rPr>
            </a:br>
            <a:br>
              <a:rPr lang="en-US" sz="2000" dirty="0">
                <a:latin typeface="Aparajita" panose="02020603050405020304" pitchFamily="18" charset="0"/>
                <a:cs typeface="Aparajita" panose="02020603050405020304" pitchFamily="18" charset="0"/>
              </a:rPr>
            </a:br>
            <a:br>
              <a:rPr lang="en-US" sz="2400" dirty="0">
                <a:latin typeface="Aparajita" panose="02020603050405020304" pitchFamily="18" charset="0"/>
                <a:cs typeface="Aparajita" panose="02020603050405020304" pitchFamily="18" charset="0"/>
              </a:rPr>
            </a:br>
            <a:r>
              <a:rPr lang="en-US" sz="2000" b="1" dirty="0">
                <a:latin typeface="Aparajita" panose="02020603050405020304" pitchFamily="18" charset="0"/>
                <a:cs typeface="Aparajita" panose="02020603050405020304" pitchFamily="18" charset="0"/>
              </a:rPr>
              <a:t>Data Size :</a:t>
            </a:r>
            <a:br>
              <a:rPr lang="en-US" sz="2400" b="1" dirty="0">
                <a:latin typeface="Aparajita" panose="02020603050405020304" pitchFamily="18" charset="0"/>
                <a:cs typeface="Aparajita" panose="02020603050405020304" pitchFamily="18" charset="0"/>
              </a:rPr>
            </a:br>
            <a:r>
              <a:rPr lang="en-US" sz="2000" b="1" dirty="0">
                <a:latin typeface="Aparajita" panose="02020603050405020304" pitchFamily="18" charset="0"/>
                <a:cs typeface="Aparajita" panose="02020603050405020304" pitchFamily="18" charset="0"/>
              </a:rPr>
              <a:t>48 periods × 41 variables</a:t>
            </a:r>
            <a:endParaRPr lang="en-US" sz="2000" dirty="0">
              <a:latin typeface="Aparajita" panose="02020603050405020304" pitchFamily="18" charset="0"/>
              <a:cs typeface="Aparajita" panose="02020603050405020304" pitchFamily="18" charset="0"/>
            </a:endParaRPr>
          </a:p>
        </p:txBody>
      </p:sp>
    </p:spTree>
    <p:extLst>
      <p:ext uri="{BB962C8B-B14F-4D97-AF65-F5344CB8AC3E}">
        <p14:creationId xmlns:p14="http://schemas.microsoft.com/office/powerpoint/2010/main" val="520000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Content Placeholder 7">
            <a:extLst>
              <a:ext uri="{FF2B5EF4-FFF2-40B4-BE49-F238E27FC236}">
                <a16:creationId xmlns:a16="http://schemas.microsoft.com/office/drawing/2014/main" id="{E1AA809A-D1A8-6A23-E670-D07460547D22}"/>
              </a:ext>
            </a:extLst>
          </p:cNvPr>
          <p:cNvSpPr txBox="1">
            <a:spLocks/>
          </p:cNvSpPr>
          <p:nvPr/>
        </p:nvSpPr>
        <p:spPr>
          <a:xfrm>
            <a:off x="185195" y="217026"/>
            <a:ext cx="11921924" cy="64702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3200" b="1" dirty="0">
                <a:latin typeface="Aparajita" panose="02020603050405020304" pitchFamily="18" charset="0"/>
                <a:cs typeface="Aparajita" panose="02020603050405020304" pitchFamily="18" charset="0"/>
              </a:rPr>
              <a:t>Approach / Methodology</a:t>
            </a:r>
            <a:r>
              <a:rPr lang="en-US" sz="3200" b="1" dirty="0">
                <a:latin typeface="Aparajita" panose="02020603050405020304" pitchFamily="18" charset="0"/>
                <a:cs typeface="Aparajita" panose="02020603050405020304" pitchFamily="18" charset="0"/>
              </a:rPr>
              <a:t>:</a:t>
            </a:r>
            <a:br>
              <a:rPr lang="en-US" b="1" dirty="0">
                <a:latin typeface="Aparajita" panose="02020603050405020304" pitchFamily="18" charset="0"/>
                <a:cs typeface="Aparajita" panose="02020603050405020304" pitchFamily="18" charset="0"/>
              </a:rPr>
            </a:br>
            <a:r>
              <a:rPr lang="en-IN" sz="2000" b="1" dirty="0">
                <a:solidFill>
                  <a:schemeClr val="bg2">
                    <a:lumMod val="10000"/>
                  </a:schemeClr>
                </a:solidFill>
                <a:latin typeface="Aparajita" panose="02020603050405020304" pitchFamily="18" charset="0"/>
                <a:cs typeface="Aparajita" panose="02020603050405020304" pitchFamily="18" charset="0"/>
              </a:rPr>
              <a:t>1. Data Loading &amp; Setup : </a:t>
            </a:r>
            <a:br>
              <a:rPr lang="en-IN" sz="2000" b="1" dirty="0">
                <a:solidFill>
                  <a:schemeClr val="bg2">
                    <a:lumMod val="10000"/>
                  </a:schemeClr>
                </a:solidFill>
                <a:latin typeface="Aparajita" panose="02020603050405020304" pitchFamily="18" charset="0"/>
                <a:cs typeface="Aparajita" panose="02020603050405020304" pitchFamily="18" charset="0"/>
              </a:rPr>
            </a:br>
            <a:r>
              <a:rPr lang="en-US" sz="2000" b="1" dirty="0">
                <a:solidFill>
                  <a:schemeClr val="bg2">
                    <a:lumMod val="10000"/>
                  </a:schemeClr>
                </a:solidFill>
                <a:latin typeface="Aparajita" panose="02020603050405020304" pitchFamily="18" charset="0"/>
                <a:cs typeface="Aparajita" panose="02020603050405020304" pitchFamily="18" charset="0"/>
              </a:rPr>
              <a:t>I</a:t>
            </a:r>
            <a:r>
              <a:rPr lang="en-US" sz="2000" dirty="0">
                <a:solidFill>
                  <a:schemeClr val="bg2">
                    <a:lumMod val="10000"/>
                  </a:schemeClr>
                </a:solidFill>
                <a:latin typeface="Aparajita" panose="02020603050405020304" pitchFamily="18" charset="0"/>
                <a:cs typeface="Aparajita" panose="02020603050405020304" pitchFamily="18" charset="0"/>
              </a:rPr>
              <a:t>mported key libraries: Pandas, Matplotlib, Seaborn, </a:t>
            </a:r>
            <a:r>
              <a:rPr lang="en-US" sz="2000" dirty="0" err="1">
                <a:solidFill>
                  <a:schemeClr val="bg2">
                    <a:lumMod val="10000"/>
                  </a:schemeClr>
                </a:solidFill>
                <a:latin typeface="Aparajita" panose="02020603050405020304" pitchFamily="18" charset="0"/>
                <a:cs typeface="Aparajita" panose="02020603050405020304" pitchFamily="18" charset="0"/>
              </a:rPr>
              <a:t>Statsmodels</a:t>
            </a:r>
            <a:r>
              <a:rPr lang="en-US" sz="2000" dirty="0">
                <a:solidFill>
                  <a:schemeClr val="bg2">
                    <a:lumMod val="10000"/>
                  </a:schemeClr>
                </a:solidFill>
                <a:latin typeface="Aparajita" panose="02020603050405020304" pitchFamily="18" charset="0"/>
                <a:cs typeface="Aparajita" panose="02020603050405020304" pitchFamily="18" charset="0"/>
              </a:rPr>
              <a:t>, Scikit-learn</a:t>
            </a:r>
            <a:r>
              <a:rPr lang="en-US" dirty="0">
                <a:solidFill>
                  <a:schemeClr val="bg2">
                    <a:lumMod val="10000"/>
                  </a:schemeClr>
                </a:solidFill>
                <a:latin typeface="Aparajita" panose="02020603050405020304" pitchFamily="18" charset="0"/>
                <a:cs typeface="Aparajita" panose="02020603050405020304" pitchFamily="18" charset="0"/>
              </a:rPr>
              <a:t>. </a:t>
            </a:r>
            <a:r>
              <a:rPr lang="en-US" sz="2000" dirty="0">
                <a:solidFill>
                  <a:schemeClr val="bg2">
                    <a:lumMod val="10000"/>
                  </a:schemeClr>
                </a:solidFill>
                <a:latin typeface="Aparajita" panose="02020603050405020304" pitchFamily="18" charset="0"/>
                <a:cs typeface="Aparajita" panose="02020603050405020304" pitchFamily="18" charset="0"/>
              </a:rPr>
              <a:t>Loaded dataset (Case_Study_Input_File.xlsx) into a Pandas </a:t>
            </a:r>
            <a:r>
              <a:rPr lang="en-US" sz="2000" dirty="0" err="1">
                <a:solidFill>
                  <a:schemeClr val="bg2">
                    <a:lumMod val="10000"/>
                  </a:schemeClr>
                </a:solidFill>
                <a:latin typeface="Aparajita" panose="02020603050405020304" pitchFamily="18" charset="0"/>
                <a:cs typeface="Aparajita" panose="02020603050405020304" pitchFamily="18" charset="0"/>
              </a:rPr>
              <a:t>DataFrame</a:t>
            </a:r>
            <a:r>
              <a:rPr lang="en-US" sz="2000" dirty="0">
                <a:solidFill>
                  <a:schemeClr val="bg2">
                    <a:lumMod val="10000"/>
                  </a:schemeClr>
                </a:solidFill>
                <a:latin typeface="Aparajita" panose="02020603050405020304" pitchFamily="18" charset="0"/>
                <a:cs typeface="Aparajita" panose="02020603050405020304" pitchFamily="18" charset="0"/>
              </a:rPr>
              <a:t>. Converted date column into proper datetime format.</a:t>
            </a:r>
            <a:br>
              <a:rPr lang="en-US" sz="2000" dirty="0">
                <a:solidFill>
                  <a:schemeClr val="bg2">
                    <a:lumMod val="10000"/>
                  </a:schemeClr>
                </a:solidFill>
                <a:latin typeface="Aparajita" panose="02020603050405020304" pitchFamily="18" charset="0"/>
                <a:cs typeface="Aparajita" panose="02020603050405020304" pitchFamily="18" charset="0"/>
              </a:rPr>
            </a:br>
            <a:br>
              <a:rPr lang="en-US" dirty="0">
                <a:solidFill>
                  <a:schemeClr val="bg2">
                    <a:lumMod val="10000"/>
                  </a:schemeClr>
                </a:solidFill>
                <a:latin typeface="Aparajita" panose="02020603050405020304" pitchFamily="18" charset="0"/>
                <a:cs typeface="Aparajita" panose="02020603050405020304" pitchFamily="18" charset="0"/>
              </a:rPr>
            </a:br>
            <a:r>
              <a:rPr lang="en-US" sz="2000" b="1" dirty="0">
                <a:solidFill>
                  <a:schemeClr val="bg2">
                    <a:lumMod val="10000"/>
                  </a:schemeClr>
                </a:solidFill>
                <a:latin typeface="Aparajita" panose="02020603050405020304" pitchFamily="18" charset="0"/>
                <a:cs typeface="Aparajita" panose="02020603050405020304" pitchFamily="18" charset="0"/>
              </a:rPr>
              <a:t>2. </a:t>
            </a:r>
            <a:r>
              <a:rPr lang="en-IN" sz="2000" b="1" dirty="0">
                <a:solidFill>
                  <a:schemeClr val="bg2">
                    <a:lumMod val="10000"/>
                  </a:schemeClr>
                </a:solidFill>
                <a:latin typeface="Aparajita" panose="02020603050405020304" pitchFamily="18" charset="0"/>
                <a:cs typeface="Aparajita" panose="02020603050405020304" pitchFamily="18" charset="0"/>
              </a:rPr>
              <a:t>Data Understanding &amp; Cleaning : </a:t>
            </a:r>
            <a:br>
              <a:rPr lang="en-IN" sz="2000" b="1" dirty="0">
                <a:solidFill>
                  <a:schemeClr val="bg2">
                    <a:lumMod val="10000"/>
                  </a:schemeClr>
                </a:solidFill>
                <a:latin typeface="Aparajita" panose="02020603050405020304" pitchFamily="18" charset="0"/>
                <a:cs typeface="Aparajita" panose="02020603050405020304" pitchFamily="18" charset="0"/>
              </a:rPr>
            </a:br>
            <a:r>
              <a:rPr lang="en-IN" sz="2000" b="1" dirty="0">
                <a:solidFill>
                  <a:schemeClr val="bg2">
                    <a:lumMod val="10000"/>
                  </a:schemeClr>
                </a:solidFill>
                <a:latin typeface="Aparajita" panose="02020603050405020304" pitchFamily="18" charset="0"/>
                <a:cs typeface="Aparajita" panose="02020603050405020304" pitchFamily="18" charset="0"/>
              </a:rPr>
              <a:t>E</a:t>
            </a:r>
            <a:r>
              <a:rPr lang="en-US" sz="2000" dirty="0" err="1">
                <a:solidFill>
                  <a:schemeClr val="bg2">
                    <a:lumMod val="10000"/>
                  </a:schemeClr>
                </a:solidFill>
                <a:latin typeface="Aparajita" panose="02020603050405020304" pitchFamily="18" charset="0"/>
                <a:cs typeface="Aparajita" panose="02020603050405020304" pitchFamily="18" charset="0"/>
              </a:rPr>
              <a:t>xplored</a:t>
            </a:r>
            <a:r>
              <a:rPr lang="en-US" sz="2000" dirty="0">
                <a:solidFill>
                  <a:schemeClr val="bg2">
                    <a:lumMod val="10000"/>
                  </a:schemeClr>
                </a:solidFill>
                <a:latin typeface="Aparajita" panose="02020603050405020304" pitchFamily="18" charset="0"/>
                <a:cs typeface="Aparajita" panose="02020603050405020304" pitchFamily="18" charset="0"/>
              </a:rPr>
              <a:t> dataset using .head(), .info(), .describe()., </a:t>
            </a:r>
            <a:r>
              <a:rPr lang="en-IN" sz="2000" dirty="0">
                <a:solidFill>
                  <a:schemeClr val="bg2">
                    <a:lumMod val="10000"/>
                  </a:schemeClr>
                </a:solidFill>
                <a:latin typeface="Aparajita" panose="02020603050405020304" pitchFamily="18" charset="0"/>
                <a:cs typeface="Aparajita" panose="02020603050405020304" pitchFamily="18" charset="0"/>
              </a:rPr>
              <a:t>Checked for duplicates, </a:t>
            </a:r>
            <a:r>
              <a:rPr lang="en-US" sz="2000" dirty="0">
                <a:solidFill>
                  <a:schemeClr val="bg2">
                    <a:lumMod val="10000"/>
                  </a:schemeClr>
                </a:solidFill>
                <a:latin typeface="Aparajita" panose="02020603050405020304" pitchFamily="18" charset="0"/>
                <a:cs typeface="Aparajita" panose="02020603050405020304" pitchFamily="18" charset="0"/>
              </a:rPr>
              <a:t>Confirmed data types and ensured consistency.</a:t>
            </a:r>
            <a:br>
              <a:rPr lang="en-US" sz="2000" dirty="0">
                <a:solidFill>
                  <a:schemeClr val="bg2">
                    <a:lumMod val="10000"/>
                  </a:schemeClr>
                </a:solidFill>
                <a:latin typeface="Aparajita" panose="02020603050405020304" pitchFamily="18" charset="0"/>
                <a:cs typeface="Aparajita" panose="02020603050405020304" pitchFamily="18" charset="0"/>
              </a:rPr>
            </a:br>
            <a:br>
              <a:rPr lang="en-US" sz="2000" dirty="0">
                <a:solidFill>
                  <a:schemeClr val="bg2">
                    <a:lumMod val="10000"/>
                  </a:schemeClr>
                </a:solidFill>
                <a:latin typeface="Aparajita" panose="02020603050405020304" pitchFamily="18" charset="0"/>
                <a:cs typeface="Aparajita" panose="02020603050405020304" pitchFamily="18" charset="0"/>
              </a:rPr>
            </a:br>
            <a:r>
              <a:rPr lang="en-US" sz="2000" b="1" dirty="0">
                <a:solidFill>
                  <a:schemeClr val="bg2">
                    <a:lumMod val="10000"/>
                  </a:schemeClr>
                </a:solidFill>
                <a:latin typeface="Aparajita" panose="02020603050405020304" pitchFamily="18" charset="0"/>
                <a:cs typeface="Aparajita" panose="02020603050405020304" pitchFamily="18" charset="0"/>
              </a:rPr>
              <a:t>3. </a:t>
            </a:r>
            <a:r>
              <a:rPr lang="en-IN" sz="2000" b="1" dirty="0">
                <a:solidFill>
                  <a:schemeClr val="bg2">
                    <a:lumMod val="10000"/>
                  </a:schemeClr>
                </a:solidFill>
                <a:latin typeface="Aparajita" panose="02020603050405020304" pitchFamily="18" charset="0"/>
                <a:cs typeface="Aparajita" panose="02020603050405020304" pitchFamily="18" charset="0"/>
              </a:rPr>
              <a:t>Exploratory Data Analysis (EDA) : </a:t>
            </a:r>
            <a:br>
              <a:rPr lang="en-IN" sz="2000" b="1" dirty="0">
                <a:solidFill>
                  <a:schemeClr val="bg2">
                    <a:lumMod val="10000"/>
                  </a:schemeClr>
                </a:solidFill>
                <a:latin typeface="Aparajita" panose="02020603050405020304" pitchFamily="18" charset="0"/>
                <a:cs typeface="Aparajita" panose="02020603050405020304" pitchFamily="18" charset="0"/>
              </a:rPr>
            </a:br>
            <a:r>
              <a:rPr lang="en-US" sz="2000" dirty="0">
                <a:solidFill>
                  <a:schemeClr val="bg2">
                    <a:lumMod val="10000"/>
                  </a:schemeClr>
                </a:solidFill>
                <a:latin typeface="Aparajita" panose="02020603050405020304" pitchFamily="18" charset="0"/>
                <a:cs typeface="Aparajita" panose="02020603050405020304" pitchFamily="18" charset="0"/>
              </a:rPr>
              <a:t>Visualized </a:t>
            </a:r>
            <a:r>
              <a:rPr lang="en-US" sz="2000" b="1" dirty="0">
                <a:solidFill>
                  <a:schemeClr val="bg2">
                    <a:lumMod val="10000"/>
                  </a:schemeClr>
                </a:solidFill>
                <a:latin typeface="Aparajita" panose="02020603050405020304" pitchFamily="18" charset="0"/>
                <a:cs typeface="Aparajita" panose="02020603050405020304" pitchFamily="18" charset="0"/>
              </a:rPr>
              <a:t>media spends</a:t>
            </a:r>
            <a:r>
              <a:rPr lang="en-US" sz="2000" dirty="0">
                <a:solidFill>
                  <a:schemeClr val="bg2">
                    <a:lumMod val="10000"/>
                  </a:schemeClr>
                </a:solidFill>
                <a:latin typeface="Aparajita" panose="02020603050405020304" pitchFamily="18" charset="0"/>
                <a:cs typeface="Aparajita" panose="02020603050405020304" pitchFamily="18" charset="0"/>
              </a:rPr>
              <a:t> across multiple channels: TV, Newspaper, Google Display, YouTube, Facebook/Instagram, WhatsApp, Jio, Hotstar. Identified </a:t>
            </a:r>
            <a:r>
              <a:rPr lang="en-US" sz="2000" b="1" dirty="0">
                <a:solidFill>
                  <a:schemeClr val="bg2">
                    <a:lumMod val="10000"/>
                  </a:schemeClr>
                </a:solidFill>
                <a:latin typeface="Aparajita" panose="02020603050405020304" pitchFamily="18" charset="0"/>
                <a:cs typeface="Aparajita" panose="02020603050405020304" pitchFamily="18" charset="0"/>
              </a:rPr>
              <a:t>trends and seasonality</a:t>
            </a:r>
            <a:r>
              <a:rPr lang="en-US" sz="2000" dirty="0">
                <a:solidFill>
                  <a:schemeClr val="bg2">
                    <a:lumMod val="10000"/>
                  </a:schemeClr>
                </a:solidFill>
                <a:latin typeface="Aparajita" panose="02020603050405020304" pitchFamily="18" charset="0"/>
                <a:cs typeface="Aparajita" panose="02020603050405020304" pitchFamily="18" charset="0"/>
              </a:rPr>
              <a:t> using line plots.</a:t>
            </a:r>
            <a:br>
              <a:rPr lang="en-US" sz="2000" dirty="0">
                <a:solidFill>
                  <a:schemeClr val="bg2">
                    <a:lumMod val="10000"/>
                  </a:schemeClr>
                </a:solidFill>
                <a:latin typeface="Aparajita" panose="02020603050405020304" pitchFamily="18" charset="0"/>
                <a:cs typeface="Aparajita" panose="02020603050405020304" pitchFamily="18" charset="0"/>
              </a:rPr>
            </a:br>
            <a:br>
              <a:rPr lang="en-US" sz="2000" dirty="0">
                <a:solidFill>
                  <a:schemeClr val="bg2">
                    <a:lumMod val="10000"/>
                  </a:schemeClr>
                </a:solidFill>
                <a:latin typeface="Aparajita" panose="02020603050405020304" pitchFamily="18" charset="0"/>
                <a:cs typeface="Aparajita" panose="02020603050405020304" pitchFamily="18" charset="0"/>
              </a:rPr>
            </a:br>
            <a:r>
              <a:rPr lang="en-US" sz="2000" b="1" dirty="0">
                <a:solidFill>
                  <a:schemeClr val="bg2">
                    <a:lumMod val="10000"/>
                  </a:schemeClr>
                </a:solidFill>
                <a:latin typeface="Aparajita" panose="02020603050405020304" pitchFamily="18" charset="0"/>
                <a:cs typeface="Aparajita" panose="02020603050405020304" pitchFamily="18" charset="0"/>
              </a:rPr>
              <a:t>4. </a:t>
            </a:r>
            <a:r>
              <a:rPr lang="en-IN" sz="2000" b="1" dirty="0">
                <a:solidFill>
                  <a:schemeClr val="bg2">
                    <a:lumMod val="10000"/>
                  </a:schemeClr>
                </a:solidFill>
                <a:latin typeface="Aparajita" panose="02020603050405020304" pitchFamily="18" charset="0"/>
                <a:cs typeface="Aparajita" panose="02020603050405020304" pitchFamily="18" charset="0"/>
              </a:rPr>
              <a:t>Feature Engineering : </a:t>
            </a:r>
            <a:br>
              <a:rPr lang="en-IN" sz="2000" b="1" dirty="0">
                <a:solidFill>
                  <a:schemeClr val="bg2">
                    <a:lumMod val="10000"/>
                  </a:schemeClr>
                </a:solidFill>
                <a:latin typeface="Aparajita" panose="02020603050405020304" pitchFamily="18" charset="0"/>
                <a:cs typeface="Aparajita" panose="02020603050405020304" pitchFamily="18" charset="0"/>
              </a:rPr>
            </a:br>
            <a:r>
              <a:rPr lang="en-US" sz="2000" dirty="0">
                <a:solidFill>
                  <a:schemeClr val="bg2">
                    <a:lumMod val="10000"/>
                  </a:schemeClr>
                </a:solidFill>
                <a:latin typeface="Aparajita" panose="02020603050405020304" pitchFamily="18" charset="0"/>
                <a:cs typeface="Aparajita" panose="02020603050405020304" pitchFamily="18" charset="0"/>
              </a:rPr>
              <a:t>Selected </a:t>
            </a:r>
            <a:r>
              <a:rPr lang="en-US" sz="2000" b="1" dirty="0">
                <a:solidFill>
                  <a:schemeClr val="bg2">
                    <a:lumMod val="10000"/>
                  </a:schemeClr>
                </a:solidFill>
                <a:latin typeface="Aparajita" panose="02020603050405020304" pitchFamily="18" charset="0"/>
                <a:cs typeface="Aparajita" panose="02020603050405020304" pitchFamily="18" charset="0"/>
              </a:rPr>
              <a:t>media spend columns</a:t>
            </a:r>
            <a:r>
              <a:rPr lang="en-US" sz="2000" dirty="0">
                <a:solidFill>
                  <a:schemeClr val="bg2">
                    <a:lumMod val="10000"/>
                  </a:schemeClr>
                </a:solidFill>
                <a:latin typeface="Aparajita" panose="02020603050405020304" pitchFamily="18" charset="0"/>
                <a:cs typeface="Aparajita" panose="02020603050405020304" pitchFamily="18" charset="0"/>
              </a:rPr>
              <a:t> as key drivers of sales., Designed </a:t>
            </a:r>
            <a:r>
              <a:rPr lang="en-US" sz="2000" b="1" dirty="0" err="1">
                <a:solidFill>
                  <a:schemeClr val="bg2">
                    <a:lumMod val="10000"/>
                  </a:schemeClr>
                </a:solidFill>
                <a:latin typeface="Aparajita" panose="02020603050405020304" pitchFamily="18" charset="0"/>
                <a:cs typeface="Aparajita" panose="02020603050405020304" pitchFamily="18" charset="0"/>
              </a:rPr>
              <a:t>adstock</a:t>
            </a:r>
            <a:r>
              <a:rPr lang="en-US" sz="2000" b="1" dirty="0">
                <a:solidFill>
                  <a:schemeClr val="bg2">
                    <a:lumMod val="10000"/>
                  </a:schemeClr>
                </a:solidFill>
                <a:latin typeface="Aparajita" panose="02020603050405020304" pitchFamily="18" charset="0"/>
                <a:cs typeface="Aparajita" panose="02020603050405020304" pitchFamily="18" charset="0"/>
              </a:rPr>
              <a:t> transformations</a:t>
            </a:r>
            <a:r>
              <a:rPr lang="en-US" sz="2000" dirty="0">
                <a:solidFill>
                  <a:schemeClr val="bg2">
                    <a:lumMod val="10000"/>
                  </a:schemeClr>
                </a:solidFill>
                <a:latin typeface="Aparajita" panose="02020603050405020304" pitchFamily="18" charset="0"/>
                <a:cs typeface="Aparajita" panose="02020603050405020304" pitchFamily="18" charset="0"/>
              </a:rPr>
              <a:t> to capture lagged and saturation effects of advertising., Normalized/standardized variables (</a:t>
            </a:r>
            <a:r>
              <a:rPr lang="en-US" sz="2000" dirty="0" err="1">
                <a:solidFill>
                  <a:schemeClr val="bg2">
                    <a:lumMod val="10000"/>
                  </a:schemeClr>
                </a:solidFill>
                <a:latin typeface="Aparajita" panose="02020603050405020304" pitchFamily="18" charset="0"/>
                <a:cs typeface="Aparajita" panose="02020603050405020304" pitchFamily="18" charset="0"/>
              </a:rPr>
              <a:t>StandardScaler</a:t>
            </a:r>
            <a:r>
              <a:rPr lang="en-US" sz="2000" dirty="0">
                <a:solidFill>
                  <a:schemeClr val="bg2">
                    <a:lumMod val="10000"/>
                  </a:schemeClr>
                </a:solidFill>
                <a:latin typeface="Aparajita" panose="02020603050405020304" pitchFamily="18" charset="0"/>
                <a:cs typeface="Aparajita" panose="02020603050405020304" pitchFamily="18" charset="0"/>
              </a:rPr>
              <a:t>) for regression.</a:t>
            </a:r>
            <a:br>
              <a:rPr lang="en-US" sz="2000" dirty="0">
                <a:solidFill>
                  <a:schemeClr val="bg2">
                    <a:lumMod val="10000"/>
                  </a:schemeClr>
                </a:solidFill>
                <a:latin typeface="Aparajita" panose="02020603050405020304" pitchFamily="18" charset="0"/>
                <a:cs typeface="Aparajita" panose="02020603050405020304" pitchFamily="18" charset="0"/>
              </a:rPr>
            </a:br>
            <a:br>
              <a:rPr lang="en-US" sz="2000" dirty="0">
                <a:solidFill>
                  <a:schemeClr val="bg2">
                    <a:lumMod val="10000"/>
                  </a:schemeClr>
                </a:solidFill>
                <a:latin typeface="Aparajita" panose="02020603050405020304" pitchFamily="18" charset="0"/>
                <a:cs typeface="Aparajita" panose="02020603050405020304" pitchFamily="18" charset="0"/>
              </a:rPr>
            </a:br>
            <a:r>
              <a:rPr lang="en-US" sz="2000" b="1" dirty="0">
                <a:solidFill>
                  <a:schemeClr val="bg2">
                    <a:lumMod val="10000"/>
                  </a:schemeClr>
                </a:solidFill>
                <a:latin typeface="Aparajita" panose="02020603050405020304" pitchFamily="18" charset="0"/>
                <a:cs typeface="Aparajita" panose="02020603050405020304" pitchFamily="18" charset="0"/>
              </a:rPr>
              <a:t>5. </a:t>
            </a:r>
            <a:r>
              <a:rPr lang="en-IN" sz="2000" b="1" dirty="0">
                <a:solidFill>
                  <a:schemeClr val="bg2">
                    <a:lumMod val="10000"/>
                  </a:schemeClr>
                </a:solidFill>
                <a:latin typeface="Aparajita" panose="02020603050405020304" pitchFamily="18" charset="0"/>
                <a:cs typeface="Aparajita" panose="02020603050405020304" pitchFamily="18" charset="0"/>
              </a:rPr>
              <a:t>Modelling : </a:t>
            </a:r>
            <a:br>
              <a:rPr lang="en-IN" sz="2000" dirty="0">
                <a:solidFill>
                  <a:schemeClr val="bg2">
                    <a:lumMod val="10000"/>
                  </a:schemeClr>
                </a:solidFill>
                <a:latin typeface="Aparajita" panose="02020603050405020304" pitchFamily="18" charset="0"/>
                <a:cs typeface="Aparajita" panose="02020603050405020304" pitchFamily="18" charset="0"/>
              </a:rPr>
            </a:br>
            <a:r>
              <a:rPr lang="en-US" sz="2000" dirty="0">
                <a:solidFill>
                  <a:schemeClr val="bg2">
                    <a:lumMod val="10000"/>
                  </a:schemeClr>
                </a:solidFill>
                <a:latin typeface="Aparajita" panose="02020603050405020304" pitchFamily="18" charset="0"/>
                <a:cs typeface="Aparajita" panose="02020603050405020304" pitchFamily="18" charset="0"/>
              </a:rPr>
              <a:t>Built </a:t>
            </a:r>
            <a:r>
              <a:rPr lang="en-US" sz="2000" b="1" dirty="0">
                <a:solidFill>
                  <a:schemeClr val="bg2">
                    <a:lumMod val="10000"/>
                  </a:schemeClr>
                </a:solidFill>
                <a:latin typeface="Aparajita" panose="02020603050405020304" pitchFamily="18" charset="0"/>
                <a:cs typeface="Aparajita" panose="02020603050405020304" pitchFamily="18" charset="0"/>
              </a:rPr>
              <a:t>Market Mix Models</a:t>
            </a:r>
            <a:r>
              <a:rPr lang="en-US" sz="2000" dirty="0">
                <a:solidFill>
                  <a:schemeClr val="bg2">
                    <a:lumMod val="10000"/>
                  </a:schemeClr>
                </a:solidFill>
                <a:latin typeface="Aparajita" panose="02020603050405020304" pitchFamily="18" charset="0"/>
                <a:cs typeface="Aparajita" panose="02020603050405020304" pitchFamily="18" charset="0"/>
              </a:rPr>
              <a:t> using – i. </a:t>
            </a:r>
            <a:r>
              <a:rPr lang="en-IN" sz="2000" dirty="0">
                <a:solidFill>
                  <a:schemeClr val="bg2">
                    <a:lumMod val="10000"/>
                  </a:schemeClr>
                </a:solidFill>
                <a:latin typeface="Aparajita" panose="02020603050405020304" pitchFamily="18" charset="0"/>
                <a:cs typeface="Aparajita" panose="02020603050405020304" pitchFamily="18" charset="0"/>
              </a:rPr>
              <a:t>Linear Regression and ii. </a:t>
            </a:r>
            <a:r>
              <a:rPr lang="en-US" sz="2000" i="1" dirty="0">
                <a:solidFill>
                  <a:schemeClr val="bg2">
                    <a:lumMod val="10000"/>
                  </a:schemeClr>
                </a:solidFill>
                <a:latin typeface="Aparajita" panose="02020603050405020304" pitchFamily="18" charset="0"/>
                <a:cs typeface="Aparajita" panose="02020603050405020304" pitchFamily="18" charset="0"/>
              </a:rPr>
              <a:t>Lasso Regression (</a:t>
            </a:r>
            <a:r>
              <a:rPr lang="en-US" sz="2000" i="1" dirty="0" err="1">
                <a:solidFill>
                  <a:schemeClr val="bg2">
                    <a:lumMod val="10000"/>
                  </a:schemeClr>
                </a:solidFill>
                <a:latin typeface="Aparajita" panose="02020603050405020304" pitchFamily="18" charset="0"/>
                <a:cs typeface="Aparajita" panose="02020603050405020304" pitchFamily="18" charset="0"/>
              </a:rPr>
              <a:t>LassoCV</a:t>
            </a:r>
            <a:r>
              <a:rPr lang="en-US" sz="2000" i="1" dirty="0">
                <a:solidFill>
                  <a:schemeClr val="bg2">
                    <a:lumMod val="10000"/>
                  </a:schemeClr>
                </a:solidFill>
                <a:latin typeface="Aparajita" panose="02020603050405020304" pitchFamily="18" charset="0"/>
                <a:cs typeface="Aparajita" panose="02020603050405020304" pitchFamily="18" charset="0"/>
              </a:rPr>
              <a:t>)</a:t>
            </a:r>
            <a:r>
              <a:rPr lang="en-US" sz="2000" dirty="0">
                <a:solidFill>
                  <a:schemeClr val="bg2">
                    <a:lumMod val="10000"/>
                  </a:schemeClr>
                </a:solidFill>
                <a:latin typeface="Aparajita" panose="02020603050405020304" pitchFamily="18" charset="0"/>
                <a:cs typeface="Aparajita" panose="02020603050405020304" pitchFamily="18" charset="0"/>
              </a:rPr>
              <a:t> for regularization.</a:t>
            </a:r>
            <a:br>
              <a:rPr lang="en-US" sz="2000" dirty="0">
                <a:solidFill>
                  <a:schemeClr val="bg2">
                    <a:lumMod val="10000"/>
                  </a:schemeClr>
                </a:solidFill>
                <a:latin typeface="Aparajita" panose="02020603050405020304" pitchFamily="18" charset="0"/>
                <a:cs typeface="Aparajita" panose="02020603050405020304" pitchFamily="18" charset="0"/>
              </a:rPr>
            </a:br>
            <a:r>
              <a:rPr lang="en-US" sz="2000" dirty="0">
                <a:solidFill>
                  <a:schemeClr val="bg2">
                    <a:lumMod val="10000"/>
                  </a:schemeClr>
                </a:solidFill>
                <a:latin typeface="Aparajita" panose="02020603050405020304" pitchFamily="18" charset="0"/>
                <a:cs typeface="Aparajita" panose="02020603050405020304" pitchFamily="18" charset="0"/>
              </a:rPr>
              <a:t>Applied train-test split for model validation., Evaluated performance using </a:t>
            </a:r>
            <a:r>
              <a:rPr lang="en-US" sz="2000" b="1" dirty="0">
                <a:solidFill>
                  <a:schemeClr val="bg2">
                    <a:lumMod val="10000"/>
                  </a:schemeClr>
                </a:solidFill>
                <a:latin typeface="Aparajita" panose="02020603050405020304" pitchFamily="18" charset="0"/>
                <a:cs typeface="Aparajita" panose="02020603050405020304" pitchFamily="18" charset="0"/>
              </a:rPr>
              <a:t>R², RMSE, MAE</a:t>
            </a:r>
            <a:r>
              <a:rPr lang="en-US" sz="2000" dirty="0">
                <a:solidFill>
                  <a:schemeClr val="bg2">
                    <a:lumMod val="10000"/>
                  </a:schemeClr>
                </a:solidFill>
                <a:latin typeface="Aparajita" panose="02020603050405020304" pitchFamily="18" charset="0"/>
                <a:cs typeface="Aparajita" panose="02020603050405020304" pitchFamily="18" charset="0"/>
              </a:rPr>
              <a:t>.</a:t>
            </a:r>
            <a:br>
              <a:rPr lang="en-US" sz="2000" dirty="0">
                <a:solidFill>
                  <a:schemeClr val="bg2">
                    <a:lumMod val="10000"/>
                  </a:schemeClr>
                </a:solidFill>
                <a:latin typeface="Aparajita" panose="02020603050405020304" pitchFamily="18" charset="0"/>
                <a:cs typeface="Aparajita" panose="02020603050405020304" pitchFamily="18" charset="0"/>
              </a:rPr>
            </a:br>
            <a:br>
              <a:rPr lang="en-US" sz="2000" dirty="0">
                <a:solidFill>
                  <a:schemeClr val="bg2">
                    <a:lumMod val="10000"/>
                  </a:schemeClr>
                </a:solidFill>
                <a:latin typeface="Aparajita" panose="02020603050405020304" pitchFamily="18" charset="0"/>
                <a:cs typeface="Aparajita" panose="02020603050405020304" pitchFamily="18" charset="0"/>
              </a:rPr>
            </a:br>
            <a:r>
              <a:rPr lang="en-US" sz="2000" b="1" dirty="0">
                <a:solidFill>
                  <a:schemeClr val="bg2">
                    <a:lumMod val="10000"/>
                  </a:schemeClr>
                </a:solidFill>
                <a:latin typeface="Aparajita" panose="02020603050405020304" pitchFamily="18" charset="0"/>
                <a:cs typeface="Aparajita" panose="02020603050405020304" pitchFamily="18" charset="0"/>
              </a:rPr>
              <a:t>6. </a:t>
            </a:r>
            <a:r>
              <a:rPr lang="en-IN" sz="2000" b="1" dirty="0">
                <a:solidFill>
                  <a:schemeClr val="bg2">
                    <a:lumMod val="10000"/>
                  </a:schemeClr>
                </a:solidFill>
                <a:latin typeface="Aparajita" panose="02020603050405020304" pitchFamily="18" charset="0"/>
                <a:cs typeface="Aparajita" panose="02020603050405020304" pitchFamily="18" charset="0"/>
              </a:rPr>
              <a:t>Interpretation &amp; Insights :</a:t>
            </a:r>
            <a:br>
              <a:rPr lang="en-IN" sz="2000" b="1" dirty="0">
                <a:solidFill>
                  <a:schemeClr val="bg2">
                    <a:lumMod val="10000"/>
                  </a:schemeClr>
                </a:solidFill>
                <a:latin typeface="Aparajita" panose="02020603050405020304" pitchFamily="18" charset="0"/>
                <a:cs typeface="Aparajita" panose="02020603050405020304" pitchFamily="18" charset="0"/>
              </a:rPr>
            </a:br>
            <a:r>
              <a:rPr lang="en-IN" sz="2000" dirty="0">
                <a:solidFill>
                  <a:schemeClr val="bg2">
                    <a:lumMod val="10000"/>
                  </a:schemeClr>
                </a:solidFill>
                <a:latin typeface="Aparajita" panose="02020603050405020304" pitchFamily="18" charset="0"/>
                <a:cs typeface="Aparajita" panose="02020603050405020304" pitchFamily="18" charset="0"/>
              </a:rPr>
              <a:t>Interpreted </a:t>
            </a:r>
            <a:r>
              <a:rPr lang="en-IN" sz="2000" b="1" dirty="0">
                <a:solidFill>
                  <a:schemeClr val="bg2">
                    <a:lumMod val="10000"/>
                  </a:schemeClr>
                </a:solidFill>
                <a:latin typeface="Aparajita" panose="02020603050405020304" pitchFamily="18" charset="0"/>
                <a:cs typeface="Aparajita" panose="02020603050405020304" pitchFamily="18" charset="0"/>
              </a:rPr>
              <a:t>regression coefficients</a:t>
            </a:r>
            <a:r>
              <a:rPr lang="en-IN" sz="2000" dirty="0">
                <a:solidFill>
                  <a:schemeClr val="bg2">
                    <a:lumMod val="10000"/>
                  </a:schemeClr>
                </a:solidFill>
                <a:latin typeface="Aparajita" panose="02020603050405020304" pitchFamily="18" charset="0"/>
                <a:cs typeface="Aparajita" panose="02020603050405020304" pitchFamily="18" charset="0"/>
              </a:rPr>
              <a:t> to estimate channel contributions. </a:t>
            </a:r>
            <a:r>
              <a:rPr lang="en-US" sz="2000" dirty="0">
                <a:solidFill>
                  <a:schemeClr val="bg2">
                    <a:lumMod val="10000"/>
                  </a:schemeClr>
                </a:solidFill>
                <a:latin typeface="Aparajita" panose="02020603050405020304" pitchFamily="18" charset="0"/>
                <a:cs typeface="Aparajita" panose="02020603050405020304" pitchFamily="18" charset="0"/>
              </a:rPr>
              <a:t>Measured </a:t>
            </a:r>
            <a:r>
              <a:rPr lang="en-US" sz="2000" b="1" dirty="0">
                <a:solidFill>
                  <a:schemeClr val="bg2">
                    <a:lumMod val="10000"/>
                  </a:schemeClr>
                </a:solidFill>
                <a:latin typeface="Aparajita" panose="02020603050405020304" pitchFamily="18" charset="0"/>
                <a:cs typeface="Aparajita" panose="02020603050405020304" pitchFamily="18" charset="0"/>
              </a:rPr>
              <a:t>ROI per media channel</a:t>
            </a:r>
            <a:r>
              <a:rPr lang="en-US" sz="2000" dirty="0">
                <a:solidFill>
                  <a:schemeClr val="bg2">
                    <a:lumMod val="10000"/>
                  </a:schemeClr>
                </a:solidFill>
                <a:latin typeface="Aparajita" panose="02020603050405020304" pitchFamily="18" charset="0"/>
                <a:cs typeface="Aparajita" panose="02020603050405020304" pitchFamily="18" charset="0"/>
              </a:rPr>
              <a:t> (sales per unit spend).</a:t>
            </a:r>
            <a:br>
              <a:rPr lang="en-US" sz="2000" dirty="0">
                <a:solidFill>
                  <a:schemeClr val="bg2">
                    <a:lumMod val="10000"/>
                  </a:schemeClr>
                </a:solidFill>
                <a:latin typeface="Aparajita" panose="02020603050405020304" pitchFamily="18" charset="0"/>
                <a:cs typeface="Aparajita" panose="02020603050405020304" pitchFamily="18" charset="0"/>
              </a:rPr>
            </a:br>
            <a:br>
              <a:rPr lang="en-US" sz="2000" dirty="0">
                <a:latin typeface="Aparajita" panose="02020603050405020304" pitchFamily="18" charset="0"/>
                <a:cs typeface="Aparajita" panose="02020603050405020304" pitchFamily="18" charset="0"/>
              </a:rPr>
            </a:br>
            <a:br>
              <a:rPr lang="en-US" dirty="0"/>
            </a:br>
            <a:br>
              <a:rPr lang="en-US" dirty="0"/>
            </a:br>
            <a:br>
              <a:rPr lang="en-US" dirty="0"/>
            </a:br>
            <a:endParaRPr lang="en-US" dirty="0"/>
          </a:p>
        </p:txBody>
      </p:sp>
    </p:spTree>
    <p:extLst>
      <p:ext uri="{BB962C8B-B14F-4D97-AF65-F5344CB8AC3E}">
        <p14:creationId xmlns:p14="http://schemas.microsoft.com/office/powerpoint/2010/main" val="1096717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Content Placeholder 7">
            <a:extLst>
              <a:ext uri="{FF2B5EF4-FFF2-40B4-BE49-F238E27FC236}">
                <a16:creationId xmlns:a16="http://schemas.microsoft.com/office/drawing/2014/main" id="{6C0406E7-85F9-2341-406D-163DD35C0C11}"/>
              </a:ext>
            </a:extLst>
          </p:cNvPr>
          <p:cNvSpPr txBox="1">
            <a:spLocks/>
          </p:cNvSpPr>
          <p:nvPr/>
        </p:nvSpPr>
        <p:spPr>
          <a:xfrm>
            <a:off x="127322" y="254643"/>
            <a:ext cx="11921924" cy="64702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latin typeface="Aparajita" panose="02020603050405020304" pitchFamily="18" charset="0"/>
                <a:cs typeface="Aparajita" panose="02020603050405020304" pitchFamily="18" charset="0"/>
              </a:rPr>
              <a:t>Exploratory Data Analysis :</a:t>
            </a:r>
            <a:br>
              <a:rPr lang="en-US" dirty="0"/>
            </a:br>
            <a:r>
              <a:rPr lang="en-US" sz="2400" dirty="0"/>
              <a:t>1. </a:t>
            </a:r>
            <a:r>
              <a:rPr lang="en-US" sz="2400" b="1" dirty="0">
                <a:latin typeface="Aparajita" panose="02020603050405020304" pitchFamily="18" charset="0"/>
                <a:cs typeface="Aparajita" panose="02020603050405020304" pitchFamily="18" charset="0"/>
              </a:rPr>
              <a:t>Media Spent over the Time Analysis :</a:t>
            </a:r>
            <a:br>
              <a:rPr lang="en-US" dirty="0"/>
            </a:br>
            <a:br>
              <a:rPr lang="en-US" dirty="0"/>
            </a:br>
            <a:br>
              <a:rPr lang="en-US" dirty="0"/>
            </a:br>
            <a:br>
              <a:rPr lang="en-US" dirty="0"/>
            </a:br>
            <a:br>
              <a:rPr lang="en-US" dirty="0"/>
            </a:br>
            <a:br>
              <a:rPr lang="en-US" dirty="0"/>
            </a:br>
            <a:br>
              <a:rPr lang="en-US" dirty="0"/>
            </a:br>
            <a:br>
              <a:rPr lang="en-US" dirty="0"/>
            </a:br>
            <a:br>
              <a:rPr lang="en-US" dirty="0"/>
            </a:br>
            <a:r>
              <a:rPr lang="en-US" sz="2000" dirty="0">
                <a:latin typeface="Aparajita" panose="02020603050405020304" pitchFamily="18" charset="0"/>
                <a:cs typeface="Aparajita" panose="02020603050405020304" pitchFamily="18" charset="0"/>
              </a:rPr>
              <a:t>The graph shows fluctuations in media spends, with some months showing sharp peaks while others have very little or no spending.</a:t>
            </a:r>
          </a:p>
          <a:p>
            <a:r>
              <a:rPr lang="en-US" sz="2000" dirty="0">
                <a:latin typeface="Aparajita" panose="02020603050405020304" pitchFamily="18" charset="0"/>
                <a:cs typeface="Aparajita" panose="02020603050405020304" pitchFamily="18" charset="0"/>
              </a:rPr>
              <a:t>The orange dashed line represents TV Total Spends, which is by far the highest and most frequent among all media types. There are several spikes where TV spends reached around or above 40-50 </a:t>
            </a:r>
            <a:r>
              <a:rPr lang="en-US" sz="2000" dirty="0" err="1">
                <a:latin typeface="Aparajita" panose="02020603050405020304" pitchFamily="18" charset="0"/>
                <a:cs typeface="Aparajita" panose="02020603050405020304" pitchFamily="18" charset="0"/>
              </a:rPr>
              <a:t>mn</a:t>
            </a:r>
            <a:r>
              <a:rPr lang="en-US" sz="2000" dirty="0">
                <a:latin typeface="Aparajita" panose="02020603050405020304" pitchFamily="18" charset="0"/>
                <a:cs typeface="Aparajita" panose="02020603050405020304" pitchFamily="18" charset="0"/>
              </a:rPr>
              <a:t>, indicating significant advertising campaigns.</a:t>
            </a:r>
          </a:p>
          <a:p>
            <a:r>
              <a:rPr lang="en-US" sz="2000" dirty="0">
                <a:latin typeface="Aparajita" panose="02020603050405020304" pitchFamily="18" charset="0"/>
                <a:cs typeface="Aparajita" panose="02020603050405020304" pitchFamily="18" charset="0"/>
              </a:rPr>
              <a:t>Newspaper, YouTube, Facebook, and WhatsApp spends are visible but relatively low. Most of these lines hover near zero, with occasional peaks suggesting smaller campaigns or targeted promotions.</a:t>
            </a:r>
          </a:p>
          <a:p>
            <a:r>
              <a:rPr lang="en-US" sz="2000" dirty="0">
                <a:latin typeface="Aparajita" panose="02020603050405020304" pitchFamily="18" charset="0"/>
                <a:cs typeface="Aparajita" panose="02020603050405020304" pitchFamily="18" charset="0"/>
              </a:rPr>
              <a:t>Peaks across all channels around specific months (especially early 2019, mid-2020, and late 2022) suggest campaigns linked to events, festivals, or product launches. The irregular spikes reflect that media spends were not uniform and were perhaps driven by business needs or external factors.</a:t>
            </a:r>
          </a:p>
          <a:p>
            <a:pPr marL="0" indent="0">
              <a:buNone/>
            </a:pPr>
            <a:br>
              <a:rPr lang="en-US" dirty="0"/>
            </a:br>
            <a:br>
              <a:rPr lang="en-US" dirty="0"/>
            </a:br>
            <a:br>
              <a:rPr lang="en-US" dirty="0"/>
            </a:br>
            <a:endParaRPr lang="en-US" dirty="0"/>
          </a:p>
        </p:txBody>
      </p:sp>
      <p:pic>
        <p:nvPicPr>
          <p:cNvPr id="9" name="Picture 8">
            <a:extLst>
              <a:ext uri="{FF2B5EF4-FFF2-40B4-BE49-F238E27FC236}">
                <a16:creationId xmlns:a16="http://schemas.microsoft.com/office/drawing/2014/main" id="{931EB3C4-ABC1-7E56-B2A6-A4CD23D5F734}"/>
              </a:ext>
            </a:extLst>
          </p:cNvPr>
          <p:cNvPicPr>
            <a:picLocks noChangeAspect="1"/>
          </p:cNvPicPr>
          <p:nvPr/>
        </p:nvPicPr>
        <p:blipFill>
          <a:blip r:embed="rId3"/>
          <a:stretch>
            <a:fillRect/>
          </a:stretch>
        </p:blipFill>
        <p:spPr>
          <a:xfrm>
            <a:off x="2495672" y="1061211"/>
            <a:ext cx="6983994" cy="2908906"/>
          </a:xfrm>
          <a:prstGeom prst="rect">
            <a:avLst/>
          </a:prstGeom>
        </p:spPr>
      </p:pic>
    </p:spTree>
    <p:extLst>
      <p:ext uri="{BB962C8B-B14F-4D97-AF65-F5344CB8AC3E}">
        <p14:creationId xmlns:p14="http://schemas.microsoft.com/office/powerpoint/2010/main" val="4230106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7">
            <a:extLst>
              <a:ext uri="{FF2B5EF4-FFF2-40B4-BE49-F238E27FC236}">
                <a16:creationId xmlns:a16="http://schemas.microsoft.com/office/drawing/2014/main" id="{52BBCA48-153F-AB58-3370-6ACFBC09D818}"/>
              </a:ext>
            </a:extLst>
          </p:cNvPr>
          <p:cNvSpPr txBox="1">
            <a:spLocks/>
          </p:cNvSpPr>
          <p:nvPr/>
        </p:nvSpPr>
        <p:spPr>
          <a:xfrm>
            <a:off x="127322" y="254643"/>
            <a:ext cx="11921924" cy="64702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br>
              <a:rPr lang="en-US" dirty="0"/>
            </a:br>
            <a:br>
              <a:rPr lang="en-US" dirty="0"/>
            </a:br>
            <a:br>
              <a:rPr lang="en-US" dirty="0"/>
            </a:br>
            <a:endParaRPr lang="en-US" dirty="0"/>
          </a:p>
        </p:txBody>
      </p:sp>
      <p:sp>
        <p:nvSpPr>
          <p:cNvPr id="10" name="Content Placeholder 7">
            <a:extLst>
              <a:ext uri="{FF2B5EF4-FFF2-40B4-BE49-F238E27FC236}">
                <a16:creationId xmlns:a16="http://schemas.microsoft.com/office/drawing/2014/main" id="{7C6E6C19-5FFD-B302-D19F-CDF59BEF1B72}"/>
              </a:ext>
            </a:extLst>
          </p:cNvPr>
          <p:cNvSpPr txBox="1">
            <a:spLocks/>
          </p:cNvSpPr>
          <p:nvPr/>
        </p:nvSpPr>
        <p:spPr>
          <a:xfrm>
            <a:off x="127322" y="69450"/>
            <a:ext cx="11937356" cy="672489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latin typeface="Aparajita" panose="02020603050405020304" pitchFamily="18" charset="0"/>
                <a:cs typeface="Aparajita" panose="02020603050405020304" pitchFamily="18" charset="0"/>
              </a:rPr>
              <a:t>Channels like Hotstar, Jo, and WhatsApp have barely noticeable spending throughout the period, indicating they were either used minimally or not at all in some months.</a:t>
            </a:r>
          </a:p>
          <a:p>
            <a:r>
              <a:rPr lang="en-US" sz="2000" dirty="0">
                <a:latin typeface="Aparajita" panose="02020603050405020304" pitchFamily="18" charset="0"/>
                <a:cs typeface="Aparajita" panose="02020603050405020304" pitchFamily="18" charset="0"/>
              </a:rPr>
              <a:t>Channels like Hotstar, Jio, and WhatsApp have barely noticeable spending throughout the period, indicating they were either used minimally or not at all in some months. Other channels like YouTube and Facebook were used occasionally, perhaps for targeted digital campaigns rather than continuous investment.</a:t>
            </a:r>
          </a:p>
          <a:p>
            <a:pPr marL="0" indent="0">
              <a:buNone/>
            </a:pPr>
            <a:r>
              <a:rPr lang="en-US" sz="2400" b="1" dirty="0"/>
              <a:t>2. </a:t>
            </a:r>
            <a:r>
              <a:rPr lang="en-US" sz="2400" b="1" dirty="0">
                <a:latin typeface="Aparajita" panose="02020603050405020304" pitchFamily="18" charset="0"/>
                <a:cs typeface="Aparajita" panose="02020603050405020304" pitchFamily="18" charset="0"/>
              </a:rPr>
              <a:t>Competitive Media Spending Analysis :</a:t>
            </a:r>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pPr marL="0" indent="0">
              <a:buNone/>
            </a:pPr>
            <a:r>
              <a:rPr lang="en-US" sz="2000" dirty="0">
                <a:latin typeface="Aparajita" panose="02020603050405020304" pitchFamily="18" charset="0"/>
                <a:cs typeface="Aparajita" panose="02020603050405020304" pitchFamily="18" charset="0"/>
              </a:rPr>
              <a:t>Based on the charts, In newspaper advertising, the brand's spending has been minimal and has dropped to almost nothing since mid-2020, while Competitor 1 has maintained a moderate, sporadic presence, and Competitor 2 has consistently been the most aggressive spender, with major peaks often exceeding 40 million </a:t>
            </a:r>
            <a:r>
              <a:rPr lang="en-US" sz="2000" dirty="0" err="1">
                <a:latin typeface="Aparajita" panose="02020603050405020304" pitchFamily="18" charset="0"/>
                <a:cs typeface="Aparajita" panose="02020603050405020304" pitchFamily="18" charset="0"/>
              </a:rPr>
              <a:t>dollers</a:t>
            </a:r>
            <a:r>
              <a:rPr lang="en-US" sz="2000" dirty="0">
                <a:latin typeface="Aparajita" panose="02020603050405020304" pitchFamily="18" charset="0"/>
                <a:cs typeface="Aparajita" panose="02020603050405020304" pitchFamily="18" charset="0"/>
              </a:rPr>
              <a:t>. In contrast, the TV advertising landscape is highly competitive, with all three brands making significant investments. The brand's TV spending has fluctuated with high peaks in late 2019, early 2020, early 2021, and mid-2022. Competitor 1 also engages in a strategy of large, intermittent TV campaigns, with a massive spike reaching nearly $70 million in late 2019. </a:t>
            </a:r>
            <a:endParaRPr lang="en-US" sz="2400" b="1" dirty="0"/>
          </a:p>
          <a:p>
            <a:pPr marL="0" indent="0">
              <a:buNone/>
            </a:pPr>
            <a:br>
              <a:rPr lang="en-US" dirty="0"/>
            </a:br>
            <a:br>
              <a:rPr lang="en-US" dirty="0"/>
            </a:br>
            <a:br>
              <a:rPr lang="en-US" dirty="0"/>
            </a:br>
            <a:endParaRPr lang="en-US" dirty="0"/>
          </a:p>
        </p:txBody>
      </p:sp>
      <p:pic>
        <p:nvPicPr>
          <p:cNvPr id="14" name="Picture 13">
            <a:extLst>
              <a:ext uri="{FF2B5EF4-FFF2-40B4-BE49-F238E27FC236}">
                <a16:creationId xmlns:a16="http://schemas.microsoft.com/office/drawing/2014/main" id="{80E9DBCE-3A4E-182F-187A-253440F39BC7}"/>
              </a:ext>
            </a:extLst>
          </p:cNvPr>
          <p:cNvPicPr>
            <a:picLocks noChangeAspect="1"/>
          </p:cNvPicPr>
          <p:nvPr/>
        </p:nvPicPr>
        <p:blipFill>
          <a:blip r:embed="rId3"/>
          <a:stretch>
            <a:fillRect/>
          </a:stretch>
        </p:blipFill>
        <p:spPr>
          <a:xfrm>
            <a:off x="1549971" y="2129739"/>
            <a:ext cx="9156611" cy="3148314"/>
          </a:xfrm>
          <a:prstGeom prst="rect">
            <a:avLst/>
          </a:prstGeom>
        </p:spPr>
      </p:pic>
    </p:spTree>
    <p:extLst>
      <p:ext uri="{BB962C8B-B14F-4D97-AF65-F5344CB8AC3E}">
        <p14:creationId xmlns:p14="http://schemas.microsoft.com/office/powerpoint/2010/main" val="3748348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7">
            <a:extLst>
              <a:ext uri="{FF2B5EF4-FFF2-40B4-BE49-F238E27FC236}">
                <a16:creationId xmlns:a16="http://schemas.microsoft.com/office/drawing/2014/main" id="{08420846-ECA5-8054-3721-397B45E26024}"/>
              </a:ext>
            </a:extLst>
          </p:cNvPr>
          <p:cNvSpPr txBox="1">
            <a:spLocks/>
          </p:cNvSpPr>
          <p:nvPr/>
        </p:nvSpPr>
        <p:spPr>
          <a:xfrm>
            <a:off x="127322" y="196775"/>
            <a:ext cx="11937356" cy="653969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latin typeface="Aparajita" panose="02020603050405020304" pitchFamily="18" charset="0"/>
                <a:cs typeface="Aparajita" panose="02020603050405020304" pitchFamily="18" charset="0"/>
              </a:rPr>
              <a:t>Meanwhile, Competitor 2 stands out with the most consistent and stable TV spending, maintaining a high level of investment throughout the years.</a:t>
            </a:r>
          </a:p>
          <a:p>
            <a:pPr marL="0" indent="0">
              <a:buNone/>
            </a:pPr>
            <a:r>
              <a:rPr lang="en-US" sz="2000" dirty="0">
                <a:latin typeface="Aparajita" panose="02020603050405020304" pitchFamily="18" charset="0"/>
                <a:cs typeface="Aparajita" panose="02020603050405020304" pitchFamily="18" charset="0"/>
              </a:rPr>
              <a:t>The brand should strategically re-evaluate its media spending to align with market trends and competitor behavior. Don't simply follow the competitors, but rather learn from them to build a more robust, multi-channel marketing strategy</a:t>
            </a:r>
            <a:br>
              <a:rPr lang="en-US" sz="2000" dirty="0">
                <a:latin typeface="Aparajita" panose="02020603050405020304" pitchFamily="18" charset="0"/>
                <a:cs typeface="Aparajita" panose="02020603050405020304" pitchFamily="18" charset="0"/>
              </a:rPr>
            </a:br>
            <a:br>
              <a:rPr lang="en-US" sz="2000" b="1" dirty="0">
                <a:latin typeface="Aparajita" panose="02020603050405020304" pitchFamily="18" charset="0"/>
                <a:cs typeface="Aparajita" panose="02020603050405020304" pitchFamily="18" charset="0"/>
              </a:rPr>
            </a:br>
            <a:r>
              <a:rPr lang="en-US" sz="2400" b="1" dirty="0">
                <a:latin typeface="Aparajita" panose="02020603050405020304" pitchFamily="18" charset="0"/>
                <a:cs typeface="Aparajita" panose="02020603050405020304" pitchFamily="18" charset="0"/>
              </a:rPr>
              <a:t>3</a:t>
            </a:r>
            <a:r>
              <a:rPr lang="en-US" sz="2400" b="1" dirty="0"/>
              <a:t>. </a:t>
            </a:r>
            <a:r>
              <a:rPr lang="en-US" sz="2400" b="1" dirty="0">
                <a:latin typeface="Aparajita" panose="02020603050405020304" pitchFamily="18" charset="0"/>
                <a:cs typeface="Aparajita" panose="02020603050405020304" pitchFamily="18" charset="0"/>
              </a:rPr>
              <a:t>Total Spends on Different Marketing Channels - Brand and Competitors :</a:t>
            </a:r>
            <a:br>
              <a:rPr lang="en-US" sz="2400" b="1" dirty="0"/>
            </a:br>
            <a:endParaRPr lang="en-US" sz="2400" b="1" dirty="0"/>
          </a:p>
          <a:p>
            <a:pPr marL="0" indent="0">
              <a:buNone/>
            </a:pPr>
            <a:endParaRPr lang="en-US" sz="2400" b="1" dirty="0"/>
          </a:p>
          <a:p>
            <a:pPr marL="0" indent="0">
              <a:buNone/>
            </a:pPr>
            <a:br>
              <a:rPr lang="en-US" sz="2400" b="1" dirty="0"/>
            </a:br>
            <a:endParaRPr lang="en-US" sz="2400" b="1" dirty="0"/>
          </a:p>
          <a:p>
            <a:pPr marL="0" indent="0">
              <a:buNone/>
            </a:pPr>
            <a:br>
              <a:rPr lang="en-US" sz="2400" b="1" dirty="0"/>
            </a:br>
            <a:endParaRPr lang="en-US" sz="2400" b="1" dirty="0"/>
          </a:p>
          <a:p>
            <a:r>
              <a:rPr lang="en-US" sz="2000" b="1" dirty="0">
                <a:latin typeface="Aparajita" panose="02020603050405020304" pitchFamily="18" charset="0"/>
                <a:cs typeface="Aparajita" panose="02020603050405020304" pitchFamily="18" charset="0"/>
              </a:rPr>
              <a:t>Market Dominance</a:t>
            </a:r>
            <a:r>
              <a:rPr lang="en-US" sz="2000" dirty="0">
                <a:latin typeface="Aparajita" panose="02020603050405020304" pitchFamily="18" charset="0"/>
                <a:cs typeface="Aparajita" panose="02020603050405020304" pitchFamily="18" charset="0"/>
              </a:rPr>
              <a:t>: Competitor 2 is likely pursuing an aggressive, market-dominant strategy by investing heavily in both TV and newspaper advertising to capture the highest share of voice and maintain brand awareness.</a:t>
            </a:r>
          </a:p>
          <a:p>
            <a:r>
              <a:rPr lang="en-US" sz="2000" b="1" dirty="0">
                <a:latin typeface="Aparajita" panose="02020603050405020304" pitchFamily="18" charset="0"/>
                <a:cs typeface="Aparajita" panose="02020603050405020304" pitchFamily="18" charset="0"/>
              </a:rPr>
              <a:t>Active Competition</a:t>
            </a:r>
            <a:r>
              <a:rPr lang="en-US" sz="2000" dirty="0">
                <a:latin typeface="Aparajita" panose="02020603050405020304" pitchFamily="18" charset="0"/>
                <a:cs typeface="Aparajita" panose="02020603050405020304" pitchFamily="18" charset="0"/>
              </a:rPr>
              <a:t> : Competitor 1 is also a strong player, investing substantially more than the brand to actively compete for market share in these traditional channels.</a:t>
            </a:r>
          </a:p>
          <a:p>
            <a:r>
              <a:rPr lang="en-US" sz="2000" b="1" dirty="0">
                <a:latin typeface="Aparajita" panose="02020603050405020304" pitchFamily="18" charset="0"/>
                <a:cs typeface="Aparajita" panose="02020603050405020304" pitchFamily="18" charset="0"/>
              </a:rPr>
              <a:t>Strategic Allocation</a:t>
            </a:r>
            <a:r>
              <a:rPr lang="en-US" sz="2000" dirty="0">
                <a:latin typeface="Aparajita" panose="02020603050405020304" pitchFamily="18" charset="0"/>
                <a:cs typeface="Aparajita" panose="02020603050405020304" pitchFamily="18" charset="0"/>
              </a:rPr>
              <a:t> : The brand's relatively lower spending suggests a different strategic focus. This could be a decision to allocate a greater portion of the marketing budget to other platforms, or a more conservative approach to traditional media.</a:t>
            </a:r>
          </a:p>
        </p:txBody>
      </p:sp>
      <p:pic>
        <p:nvPicPr>
          <p:cNvPr id="12" name="Picture 11">
            <a:extLst>
              <a:ext uri="{FF2B5EF4-FFF2-40B4-BE49-F238E27FC236}">
                <a16:creationId xmlns:a16="http://schemas.microsoft.com/office/drawing/2014/main" id="{FEAE7CD0-889D-A29A-32B6-7B62D00DF578}"/>
              </a:ext>
            </a:extLst>
          </p:cNvPr>
          <p:cNvPicPr>
            <a:picLocks noChangeAspect="1"/>
          </p:cNvPicPr>
          <p:nvPr/>
        </p:nvPicPr>
        <p:blipFill>
          <a:blip r:embed="rId3"/>
          <a:stretch>
            <a:fillRect/>
          </a:stretch>
        </p:blipFill>
        <p:spPr>
          <a:xfrm>
            <a:off x="3137110" y="2245652"/>
            <a:ext cx="4455885" cy="1990681"/>
          </a:xfrm>
          <a:prstGeom prst="rect">
            <a:avLst/>
          </a:prstGeom>
        </p:spPr>
      </p:pic>
    </p:spTree>
    <p:extLst>
      <p:ext uri="{BB962C8B-B14F-4D97-AF65-F5344CB8AC3E}">
        <p14:creationId xmlns:p14="http://schemas.microsoft.com/office/powerpoint/2010/main" val="859909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7">
            <a:extLst>
              <a:ext uri="{FF2B5EF4-FFF2-40B4-BE49-F238E27FC236}">
                <a16:creationId xmlns:a16="http://schemas.microsoft.com/office/drawing/2014/main" id="{15F423EE-DEC3-3F67-08CF-91B5EA73E19F}"/>
              </a:ext>
            </a:extLst>
          </p:cNvPr>
          <p:cNvSpPr txBox="1">
            <a:spLocks/>
          </p:cNvSpPr>
          <p:nvPr/>
        </p:nvSpPr>
        <p:spPr>
          <a:xfrm>
            <a:off x="162046" y="127322"/>
            <a:ext cx="11840901" cy="66322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Aparajita" panose="02020603050405020304" pitchFamily="18" charset="0"/>
                <a:cs typeface="Aparajita" panose="02020603050405020304" pitchFamily="18" charset="0"/>
              </a:rPr>
              <a:t>4</a:t>
            </a:r>
            <a:r>
              <a:rPr lang="en-US" sz="2400" b="1" dirty="0"/>
              <a:t>. </a:t>
            </a:r>
            <a:r>
              <a:rPr lang="en-US" sz="2400" b="1" dirty="0">
                <a:latin typeface="Aparajita" panose="02020603050405020304" pitchFamily="18" charset="0"/>
                <a:cs typeface="Aparajita" panose="02020603050405020304" pitchFamily="18" charset="0"/>
              </a:rPr>
              <a:t>Time Series Decomposition on Sales Data :</a:t>
            </a:r>
            <a:br>
              <a:rPr lang="en-US" sz="2400" b="1" dirty="0"/>
            </a:br>
            <a:br>
              <a:rPr lang="en-US" sz="2400" b="1" dirty="0"/>
            </a:br>
            <a:br>
              <a:rPr lang="en-US" sz="2400" b="1" dirty="0"/>
            </a:br>
            <a:br>
              <a:rPr lang="en-US" sz="2400" b="1" dirty="0"/>
            </a:br>
            <a:endParaRPr lang="en-US" sz="2400" b="1" dirty="0"/>
          </a:p>
          <a:p>
            <a:endParaRPr lang="en-US" sz="2400" b="1" dirty="0"/>
          </a:p>
          <a:p>
            <a:endParaRPr lang="en-US" sz="2400" b="1" dirty="0"/>
          </a:p>
          <a:p>
            <a:pPr marL="0" indent="0">
              <a:buNone/>
            </a:pPr>
            <a:endParaRPr lang="en-US" sz="2400" b="1" dirty="0"/>
          </a:p>
          <a:p>
            <a:pPr marL="0" indent="0">
              <a:buNone/>
            </a:pPr>
            <a:endParaRPr lang="en-US" sz="2400" b="1" dirty="0"/>
          </a:p>
          <a:p>
            <a:pPr marL="0" indent="0">
              <a:buNone/>
            </a:pPr>
            <a:br>
              <a:rPr lang="en-US" sz="2400" b="1" dirty="0"/>
            </a:br>
            <a:r>
              <a:rPr lang="en-US" sz="2000" b="1" dirty="0">
                <a:latin typeface="Aparajita" panose="02020603050405020304" pitchFamily="18" charset="0"/>
                <a:cs typeface="Aparajita" panose="02020603050405020304" pitchFamily="18" charset="0"/>
              </a:rPr>
              <a:t>The above diagram shows four subplots representing the decomposition of the KPI Sales time series into its components: Observed, Trend, Seasonal, and Residual.</a:t>
            </a:r>
            <a:endParaRPr lang="en-US" sz="2000" dirty="0">
              <a:latin typeface="Aparajita" panose="02020603050405020304" pitchFamily="18" charset="0"/>
              <a:cs typeface="Aparajita" panose="02020603050405020304" pitchFamily="18" charset="0"/>
            </a:endParaRPr>
          </a:p>
          <a:p>
            <a:r>
              <a:rPr lang="en-US" sz="2000" b="1" dirty="0">
                <a:latin typeface="Aparajita" panose="02020603050405020304" pitchFamily="18" charset="0"/>
                <a:cs typeface="Aparajita" panose="02020603050405020304" pitchFamily="18" charset="0"/>
              </a:rPr>
              <a:t>Observed Component</a:t>
            </a:r>
            <a:r>
              <a:rPr lang="en-US" sz="2000" dirty="0">
                <a:latin typeface="Aparajita" panose="02020603050405020304" pitchFamily="18" charset="0"/>
                <a:cs typeface="Aparajita" panose="02020603050405020304" pitchFamily="18" charset="0"/>
              </a:rPr>
              <a:t> : This is the actual data of KPI sales over time. The plot shows an increasing trend over time, but there’s a noticeable dip around early 2020. The dip likely corresponds to disruptions (such as the COVID-19 pandemic affecting sales). After that period, sales gradually recover and trend upward.</a:t>
            </a:r>
          </a:p>
          <a:p>
            <a:r>
              <a:rPr lang="en-US" sz="2000" b="1" dirty="0">
                <a:latin typeface="Aparajita" panose="02020603050405020304" pitchFamily="18" charset="0"/>
                <a:cs typeface="Aparajita" panose="02020603050405020304" pitchFamily="18" charset="0"/>
              </a:rPr>
              <a:t>Trend Component</a:t>
            </a:r>
            <a:r>
              <a:rPr lang="en-US" sz="2000" dirty="0">
                <a:latin typeface="Aparajita" panose="02020603050405020304" pitchFamily="18" charset="0"/>
                <a:cs typeface="Aparajita" panose="02020603050405020304" pitchFamily="18" charset="0"/>
              </a:rPr>
              <a:t> : The trend shows the overall direction of KPI sales, smoothing out short-term fluctuations. It confirms that sales were relatively stable before early 2020, then declined briefly, and recovered into a consistent upward trend. This indicates long-term growth despite temporary disruptions.</a:t>
            </a:r>
            <a:endParaRPr lang="en-US" sz="2400" b="1" dirty="0"/>
          </a:p>
        </p:txBody>
      </p:sp>
      <p:pic>
        <p:nvPicPr>
          <p:cNvPr id="13" name="Picture 12">
            <a:extLst>
              <a:ext uri="{FF2B5EF4-FFF2-40B4-BE49-F238E27FC236}">
                <a16:creationId xmlns:a16="http://schemas.microsoft.com/office/drawing/2014/main" id="{738A7A1A-AF8A-391B-D7AD-14C9256FA276}"/>
              </a:ext>
            </a:extLst>
          </p:cNvPr>
          <p:cNvPicPr>
            <a:picLocks noChangeAspect="1"/>
          </p:cNvPicPr>
          <p:nvPr/>
        </p:nvPicPr>
        <p:blipFill>
          <a:blip r:embed="rId2"/>
          <a:stretch>
            <a:fillRect/>
          </a:stretch>
        </p:blipFill>
        <p:spPr>
          <a:xfrm>
            <a:off x="2291791" y="548525"/>
            <a:ext cx="6898512" cy="3410017"/>
          </a:xfrm>
          <a:prstGeom prst="rect">
            <a:avLst/>
          </a:prstGeom>
        </p:spPr>
      </p:pic>
    </p:spTree>
    <p:extLst>
      <p:ext uri="{BB962C8B-B14F-4D97-AF65-F5344CB8AC3E}">
        <p14:creationId xmlns:p14="http://schemas.microsoft.com/office/powerpoint/2010/main" val="5378095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7">
            <a:extLst>
              <a:ext uri="{FF2B5EF4-FFF2-40B4-BE49-F238E27FC236}">
                <a16:creationId xmlns:a16="http://schemas.microsoft.com/office/drawing/2014/main" id="{201D2F8C-0D8F-AFC9-01C1-024048F03815}"/>
              </a:ext>
            </a:extLst>
          </p:cNvPr>
          <p:cNvSpPr txBox="1">
            <a:spLocks/>
          </p:cNvSpPr>
          <p:nvPr/>
        </p:nvSpPr>
        <p:spPr>
          <a:xfrm>
            <a:off x="162046" y="127322"/>
            <a:ext cx="11840901" cy="66322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400" b="1" dirty="0"/>
          </a:p>
        </p:txBody>
      </p:sp>
      <p:sp>
        <p:nvSpPr>
          <p:cNvPr id="14" name="Content Placeholder 7">
            <a:extLst>
              <a:ext uri="{FF2B5EF4-FFF2-40B4-BE49-F238E27FC236}">
                <a16:creationId xmlns:a16="http://schemas.microsoft.com/office/drawing/2014/main" id="{51104C8C-836F-A54D-E258-159A49981A8B}"/>
              </a:ext>
            </a:extLst>
          </p:cNvPr>
          <p:cNvSpPr txBox="1">
            <a:spLocks/>
          </p:cNvSpPr>
          <p:nvPr/>
        </p:nvSpPr>
        <p:spPr>
          <a:xfrm>
            <a:off x="152400" y="129247"/>
            <a:ext cx="12039600" cy="663036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br>
              <a:rPr lang="en-US" sz="2400" b="1" dirty="0"/>
            </a:br>
            <a:br>
              <a:rPr lang="en-US" sz="2400" b="1" dirty="0"/>
            </a:br>
            <a:br>
              <a:rPr lang="en-US" sz="2400" b="1" dirty="0"/>
            </a:br>
            <a:endParaRPr lang="en-US" sz="2400" b="1" dirty="0"/>
          </a:p>
          <a:p>
            <a:endParaRPr lang="en-US" sz="2400" b="1" dirty="0"/>
          </a:p>
          <a:p>
            <a:endParaRPr lang="en-US" sz="2400" b="1" dirty="0"/>
          </a:p>
          <a:p>
            <a:pPr marL="0" indent="0">
              <a:buNone/>
            </a:pPr>
            <a:endParaRPr lang="en-US" sz="2400" b="1" dirty="0"/>
          </a:p>
          <a:p>
            <a:pPr marL="0" indent="0">
              <a:buNone/>
            </a:pPr>
            <a:endParaRPr lang="en-US" sz="2400" b="1" dirty="0"/>
          </a:p>
          <a:p>
            <a:pPr marL="0" indent="0">
              <a:buNone/>
            </a:pPr>
            <a:br>
              <a:rPr lang="en-US" sz="2400" b="1" dirty="0"/>
            </a:br>
            <a:endParaRPr lang="en-US" sz="2400" b="1" dirty="0"/>
          </a:p>
        </p:txBody>
      </p:sp>
      <p:sp>
        <p:nvSpPr>
          <p:cNvPr id="16" name="Content Placeholder 7">
            <a:extLst>
              <a:ext uri="{FF2B5EF4-FFF2-40B4-BE49-F238E27FC236}">
                <a16:creationId xmlns:a16="http://schemas.microsoft.com/office/drawing/2014/main" id="{3DB6928C-82D4-01E6-212D-A660643BECE3}"/>
              </a:ext>
            </a:extLst>
          </p:cNvPr>
          <p:cNvSpPr txBox="1">
            <a:spLocks/>
          </p:cNvSpPr>
          <p:nvPr/>
        </p:nvSpPr>
        <p:spPr>
          <a:xfrm>
            <a:off x="152400" y="225708"/>
            <a:ext cx="11840901" cy="650304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latin typeface="Aparajita" panose="02020603050405020304" pitchFamily="18" charset="0"/>
                <a:cs typeface="Aparajita" panose="02020603050405020304" pitchFamily="18" charset="0"/>
              </a:rPr>
              <a:t>Seasonal Component</a:t>
            </a:r>
            <a:r>
              <a:rPr lang="en-US" sz="2000" dirty="0">
                <a:latin typeface="Aparajita" panose="02020603050405020304" pitchFamily="18" charset="0"/>
                <a:cs typeface="Aparajita" panose="02020603050405020304" pitchFamily="18" charset="0"/>
              </a:rPr>
              <a:t> : The seasonal plot highlights patterns that repeat regularly over time. There’s a cyclical pattern visible across years, suggesting that sales have predictable ups and downs at certain times of the year. The dips and peaks likely correspond to recurring events like holidays, promotions, or other seasonally driven behavior.</a:t>
            </a:r>
          </a:p>
          <a:p>
            <a:r>
              <a:rPr lang="en-US" sz="2000" b="1" dirty="0">
                <a:latin typeface="Aparajita" panose="02020603050405020304" pitchFamily="18" charset="0"/>
                <a:cs typeface="Aparajita" panose="02020603050405020304" pitchFamily="18" charset="0"/>
              </a:rPr>
              <a:t>Residual Component</a:t>
            </a:r>
            <a:r>
              <a:rPr lang="en-US" sz="2000" dirty="0">
                <a:latin typeface="Aparajita" panose="02020603050405020304" pitchFamily="18" charset="0"/>
                <a:cs typeface="Aparajita" panose="02020603050405020304" pitchFamily="18" charset="0"/>
              </a:rPr>
              <a:t> : The residuals are what’s left after removing the trend and seasonal effects — essentially, random noise or unexplained variations. The residuals hover around zero most of the time but show occasional sharp deviations. Large residuals, especially around early 2020, suggest anomalies or external shocks not captured by trend or seasonality (again, possibly pandemic-related disruptions).</a:t>
            </a:r>
            <a:br>
              <a:rPr lang="en-US" sz="2000" dirty="0">
                <a:latin typeface="Aparajita" panose="02020603050405020304" pitchFamily="18" charset="0"/>
                <a:cs typeface="Aparajita" panose="02020603050405020304" pitchFamily="18" charset="0"/>
              </a:rPr>
            </a:br>
            <a:endParaRPr lang="en-US" sz="2000" dirty="0">
              <a:latin typeface="Aparajita" panose="02020603050405020304" pitchFamily="18" charset="0"/>
              <a:cs typeface="Aparajita" panose="02020603050405020304" pitchFamily="18" charset="0"/>
            </a:endParaRPr>
          </a:p>
          <a:p>
            <a:pPr marL="0" indent="0">
              <a:buNone/>
            </a:pPr>
            <a:r>
              <a:rPr lang="en-US" sz="2000" b="1" dirty="0">
                <a:latin typeface="Aparajita" panose="02020603050405020304" pitchFamily="18" charset="0"/>
                <a:cs typeface="Aparajita" panose="02020603050405020304" pitchFamily="18" charset="0"/>
              </a:rPr>
              <a:t>5. </a:t>
            </a:r>
            <a:r>
              <a:rPr lang="en-IN" sz="2400" b="1" dirty="0">
                <a:latin typeface="Aparajita" panose="02020603050405020304" pitchFamily="18" charset="0"/>
                <a:cs typeface="Aparajita" panose="02020603050405020304" pitchFamily="18" charset="0"/>
              </a:rPr>
              <a:t>Spread of The Data </a:t>
            </a:r>
            <a:r>
              <a:rPr lang="en-IN" sz="2000" b="1" dirty="0"/>
              <a:t>:</a:t>
            </a:r>
          </a:p>
          <a:p>
            <a:pPr marL="0" indent="0">
              <a:buNone/>
            </a:pPr>
            <a:endParaRPr lang="en-IN" sz="2000" b="1" dirty="0"/>
          </a:p>
          <a:p>
            <a:pPr marL="0" indent="0">
              <a:buNone/>
            </a:pPr>
            <a:endParaRPr lang="en-IN" sz="2000" b="1" dirty="0"/>
          </a:p>
          <a:p>
            <a:pPr marL="0" indent="0">
              <a:buNone/>
            </a:pPr>
            <a:endParaRPr lang="en-IN" sz="2000" b="1" dirty="0"/>
          </a:p>
          <a:p>
            <a:pPr marL="0" indent="0">
              <a:buNone/>
            </a:pPr>
            <a:endParaRPr lang="en-IN" sz="2000" b="1" dirty="0"/>
          </a:p>
          <a:p>
            <a:pPr marL="0" indent="0">
              <a:buNone/>
            </a:pPr>
            <a:endParaRPr lang="en-IN" sz="2000" b="1" dirty="0"/>
          </a:p>
          <a:p>
            <a:pPr marL="0" indent="0">
              <a:buNone/>
            </a:pPr>
            <a:endParaRPr lang="en-IN" sz="2000" b="1" dirty="0"/>
          </a:p>
          <a:p>
            <a:pPr marL="0" indent="0">
              <a:buNone/>
            </a:pPr>
            <a:br>
              <a:rPr lang="en-IN" sz="2000" b="1" dirty="0"/>
            </a:br>
            <a:r>
              <a:rPr lang="en-US" sz="2000" dirty="0">
                <a:latin typeface="Aparajita" panose="02020603050405020304" pitchFamily="18" charset="0"/>
                <a:cs typeface="Aparajita" panose="02020603050405020304" pitchFamily="18" charset="0"/>
              </a:rPr>
              <a:t>Overall, the box plot clearly demonstrates a positive upward trend in KPI sales from 2019 to 2022. Each year's median sales are higher than the previous year, showing consistent growth. The spread of the data (the size of the box) varies each year, indicating fluctuations in sales consistency. For example, sales were most consistent in 2019 and 2022 and most varied in 2020.</a:t>
            </a:r>
            <a:endParaRPr lang="en-IN" sz="2000" b="1" dirty="0">
              <a:latin typeface="Aparajita" panose="02020603050405020304" pitchFamily="18" charset="0"/>
              <a:cs typeface="Aparajita" panose="02020603050405020304" pitchFamily="18" charset="0"/>
            </a:endParaRPr>
          </a:p>
          <a:p>
            <a:pPr marL="0" indent="0">
              <a:buNone/>
            </a:pPr>
            <a:br>
              <a:rPr lang="en-US" sz="2000" b="1" dirty="0">
                <a:latin typeface="Aparajita" panose="02020603050405020304" pitchFamily="18" charset="0"/>
                <a:cs typeface="Aparajita" panose="02020603050405020304" pitchFamily="18" charset="0"/>
              </a:rPr>
            </a:br>
            <a:endParaRPr lang="en-US" sz="2000" dirty="0">
              <a:latin typeface="Aparajita" panose="02020603050405020304" pitchFamily="18" charset="0"/>
              <a:cs typeface="Aparajita" panose="02020603050405020304" pitchFamily="18" charset="0"/>
            </a:endParaRPr>
          </a:p>
        </p:txBody>
      </p:sp>
      <p:pic>
        <p:nvPicPr>
          <p:cNvPr id="23" name="Picture 22">
            <a:extLst>
              <a:ext uri="{FF2B5EF4-FFF2-40B4-BE49-F238E27FC236}">
                <a16:creationId xmlns:a16="http://schemas.microsoft.com/office/drawing/2014/main" id="{F6DA440F-55D5-64FF-9C52-2F21176E4EA9}"/>
              </a:ext>
            </a:extLst>
          </p:cNvPr>
          <p:cNvPicPr>
            <a:picLocks noChangeAspect="1"/>
          </p:cNvPicPr>
          <p:nvPr/>
        </p:nvPicPr>
        <p:blipFill>
          <a:blip r:embed="rId3"/>
          <a:stretch>
            <a:fillRect/>
          </a:stretch>
        </p:blipFill>
        <p:spPr>
          <a:xfrm>
            <a:off x="2945243" y="2495774"/>
            <a:ext cx="6167720" cy="3186872"/>
          </a:xfrm>
          <a:prstGeom prst="rect">
            <a:avLst/>
          </a:prstGeom>
        </p:spPr>
      </p:pic>
    </p:spTree>
    <p:extLst>
      <p:ext uri="{BB962C8B-B14F-4D97-AF65-F5344CB8AC3E}">
        <p14:creationId xmlns:p14="http://schemas.microsoft.com/office/powerpoint/2010/main" val="41321475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7">
            <a:extLst>
              <a:ext uri="{FF2B5EF4-FFF2-40B4-BE49-F238E27FC236}">
                <a16:creationId xmlns:a16="http://schemas.microsoft.com/office/drawing/2014/main" id="{6A617107-C58A-C68F-6BF3-D496A9D5DE6A}"/>
              </a:ext>
            </a:extLst>
          </p:cNvPr>
          <p:cNvSpPr txBox="1">
            <a:spLocks/>
          </p:cNvSpPr>
          <p:nvPr/>
        </p:nvSpPr>
        <p:spPr>
          <a:xfrm>
            <a:off x="152401" y="225708"/>
            <a:ext cx="5854860" cy="626768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3600" b="1" dirty="0">
                <a:latin typeface="Aparajita" panose="02020603050405020304" pitchFamily="18" charset="0"/>
                <a:cs typeface="Aparajita" panose="02020603050405020304" pitchFamily="18" charset="0"/>
              </a:rPr>
              <a:t>Model Building and Results</a:t>
            </a:r>
            <a:br>
              <a:rPr lang="en-IN" sz="3600" b="1" dirty="0">
                <a:latin typeface="Aparajita" panose="02020603050405020304" pitchFamily="18" charset="0"/>
                <a:cs typeface="Aparajita" panose="02020603050405020304" pitchFamily="18" charset="0"/>
              </a:rPr>
            </a:br>
            <a:br>
              <a:rPr lang="en-US" sz="2000" dirty="0">
                <a:latin typeface="Aparajita" panose="02020603050405020304" pitchFamily="18" charset="0"/>
                <a:cs typeface="Aparajita" panose="02020603050405020304" pitchFamily="18" charset="0"/>
              </a:rPr>
            </a:br>
            <a:br>
              <a:rPr lang="en-US" sz="2000" b="1" dirty="0">
                <a:latin typeface="Aparajita" panose="02020603050405020304" pitchFamily="18" charset="0"/>
                <a:cs typeface="Aparajita" panose="02020603050405020304" pitchFamily="18" charset="0"/>
              </a:rPr>
            </a:br>
            <a:endParaRPr lang="en-US" sz="2000" dirty="0">
              <a:latin typeface="Aparajita" panose="02020603050405020304" pitchFamily="18" charset="0"/>
              <a:cs typeface="Aparajita" panose="02020603050405020304" pitchFamily="18" charset="0"/>
            </a:endParaRPr>
          </a:p>
        </p:txBody>
      </p:sp>
      <p:pic>
        <p:nvPicPr>
          <p:cNvPr id="11" name="Picture 10">
            <a:extLst>
              <a:ext uri="{FF2B5EF4-FFF2-40B4-BE49-F238E27FC236}">
                <a16:creationId xmlns:a16="http://schemas.microsoft.com/office/drawing/2014/main" id="{66EB2F2A-3ABA-EEA1-24A8-D158BF267515}"/>
              </a:ext>
            </a:extLst>
          </p:cNvPr>
          <p:cNvPicPr>
            <a:picLocks noChangeAspect="1"/>
          </p:cNvPicPr>
          <p:nvPr/>
        </p:nvPicPr>
        <p:blipFill>
          <a:blip r:embed="rId3"/>
          <a:stretch>
            <a:fillRect/>
          </a:stretch>
        </p:blipFill>
        <p:spPr>
          <a:xfrm>
            <a:off x="270326" y="700590"/>
            <a:ext cx="4220651" cy="5931702"/>
          </a:xfrm>
          <a:prstGeom prst="rect">
            <a:avLst/>
          </a:prstGeom>
        </p:spPr>
      </p:pic>
      <p:sp>
        <p:nvSpPr>
          <p:cNvPr id="12" name="Content Placeholder 7">
            <a:extLst>
              <a:ext uri="{FF2B5EF4-FFF2-40B4-BE49-F238E27FC236}">
                <a16:creationId xmlns:a16="http://schemas.microsoft.com/office/drawing/2014/main" id="{1F4D89FD-3C67-0115-B701-FE127B35D946}"/>
              </a:ext>
            </a:extLst>
          </p:cNvPr>
          <p:cNvSpPr txBox="1">
            <a:spLocks/>
          </p:cNvSpPr>
          <p:nvPr/>
        </p:nvSpPr>
        <p:spPr>
          <a:xfrm>
            <a:off x="4608902" y="770037"/>
            <a:ext cx="7384399" cy="579280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latin typeface="Aparajita" panose="02020603050405020304" pitchFamily="18" charset="0"/>
                <a:cs typeface="Aparajita" panose="02020603050405020304" pitchFamily="18" charset="0"/>
              </a:rPr>
              <a:t>Our model is performing very well. It is able to explain over 96% of the changes in our sales, which means it understands the factors driving sales almost perfectly. This gives us confidence that the model is capturing the right patterns and relationships.</a:t>
            </a:r>
          </a:p>
          <a:p>
            <a:r>
              <a:rPr lang="en-US" sz="2000" dirty="0">
                <a:latin typeface="Aparajita" panose="02020603050405020304" pitchFamily="18" charset="0"/>
                <a:cs typeface="Aparajita" panose="02020603050405020304" pitchFamily="18" charset="0"/>
              </a:rPr>
              <a:t>Additionally, the model estimates that, even without any marketing efforts, the company would still generate around 293 million Doller's in sales. This is called the baseline sales — the number of sales we can expect without extra promotional activities.</a:t>
            </a:r>
          </a:p>
          <a:p>
            <a:r>
              <a:rPr lang="en-US" sz="2000" dirty="0">
                <a:latin typeface="Aparajita" panose="02020603050405020304" pitchFamily="18" charset="0"/>
                <a:cs typeface="Aparajita" panose="02020603050405020304" pitchFamily="18" charset="0"/>
              </a:rPr>
              <a:t>When we compare the model’s predictions to the actual sales, the difference is, on average, only about 11 million Dollar’s. Considering the scale of the business, this is a small error, and it shows that the model is highly accurate and reliable.</a:t>
            </a:r>
          </a:p>
          <a:p>
            <a:pPr marL="0" indent="0">
              <a:buNone/>
            </a:pPr>
            <a:r>
              <a:rPr lang="en-US" sz="2000" b="1" dirty="0">
                <a:latin typeface="Aparajita" panose="02020603050405020304" pitchFamily="18" charset="0"/>
                <a:cs typeface="Aparajita" panose="02020603050405020304" pitchFamily="18" charset="0"/>
              </a:rPr>
              <a:t>Above we can see model coefficients as well, some features have very small or even negative coefficients, meaning they contribute little or could introduce noise. Handling such features properly is essential to prevent overfitting and ensure the model generalizes well to unseen data.</a:t>
            </a:r>
            <a:endParaRPr lang="en-US" sz="2000" dirty="0">
              <a:latin typeface="Aparajita" panose="02020603050405020304" pitchFamily="18" charset="0"/>
              <a:cs typeface="Aparajita" panose="02020603050405020304" pitchFamily="18" charset="0"/>
            </a:endParaRPr>
          </a:p>
          <a:p>
            <a:r>
              <a:rPr lang="en-US" sz="2000" dirty="0">
                <a:latin typeface="Aparajita" panose="02020603050405020304" pitchFamily="18" charset="0"/>
                <a:cs typeface="Aparajita" panose="02020603050405020304" pitchFamily="18" charset="0"/>
              </a:rPr>
              <a:t>Here Regularization is coming into the picture..</a:t>
            </a:r>
          </a:p>
          <a:p>
            <a:r>
              <a:rPr lang="en-US" sz="2000" dirty="0">
                <a:latin typeface="Aparajita" panose="02020603050405020304" pitchFamily="18" charset="0"/>
                <a:cs typeface="Aparajita" panose="02020603050405020304" pitchFamily="18" charset="0"/>
              </a:rPr>
              <a:t>Regularization helps by adding a penalty term to the loss function, which discourages the model from assigning too much importance to certain features, making the model more generalizable and robust.</a:t>
            </a:r>
            <a:endParaRPr lang="en-IN" sz="2000" b="1" dirty="0"/>
          </a:p>
          <a:p>
            <a:pPr marL="0" indent="0">
              <a:buNone/>
            </a:pPr>
            <a:endParaRPr lang="en-IN" sz="2000" b="1" dirty="0"/>
          </a:p>
          <a:p>
            <a:pPr marL="0" indent="0">
              <a:buNone/>
            </a:pPr>
            <a:endParaRPr lang="en-IN" sz="2000" b="1" dirty="0"/>
          </a:p>
          <a:p>
            <a:pPr marL="0" indent="0">
              <a:buNone/>
            </a:pPr>
            <a:endParaRPr lang="en-IN" sz="2000" b="1" dirty="0"/>
          </a:p>
          <a:p>
            <a:pPr marL="0" indent="0">
              <a:buNone/>
            </a:pPr>
            <a:endParaRPr lang="en-IN" sz="2000" b="1" dirty="0"/>
          </a:p>
          <a:p>
            <a:pPr marL="0" indent="0">
              <a:buNone/>
            </a:pPr>
            <a:br>
              <a:rPr lang="en-IN" sz="2000" b="1" dirty="0"/>
            </a:br>
            <a:br>
              <a:rPr lang="en-US" sz="2000" b="1" dirty="0">
                <a:latin typeface="Aparajita" panose="02020603050405020304" pitchFamily="18" charset="0"/>
                <a:cs typeface="Aparajita" panose="02020603050405020304" pitchFamily="18" charset="0"/>
              </a:rPr>
            </a:br>
            <a:endParaRPr lang="en-US" sz="2000" dirty="0">
              <a:latin typeface="Aparajita" panose="02020603050405020304" pitchFamily="18" charset="0"/>
              <a:cs typeface="Aparajita" panose="02020603050405020304" pitchFamily="18" charset="0"/>
            </a:endParaRPr>
          </a:p>
        </p:txBody>
      </p:sp>
    </p:spTree>
    <p:extLst>
      <p:ext uri="{BB962C8B-B14F-4D97-AF65-F5344CB8AC3E}">
        <p14:creationId xmlns:p14="http://schemas.microsoft.com/office/powerpoint/2010/main" val="30649961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46C80-DEB0-4ECB-318E-128030BD8431}"/>
            </a:ext>
          </a:extLst>
        </p:cNvPr>
        <p:cNvGrpSpPr/>
        <p:nvPr/>
      </p:nvGrpSpPr>
      <p:grpSpPr>
        <a:xfrm>
          <a:off x="0" y="0"/>
          <a:ext cx="0" cy="0"/>
          <a:chOff x="0" y="0"/>
          <a:chExt cx="0" cy="0"/>
        </a:xfrm>
      </p:grpSpPr>
      <p:sp>
        <p:nvSpPr>
          <p:cNvPr id="7" name="Content Placeholder 7">
            <a:extLst>
              <a:ext uri="{FF2B5EF4-FFF2-40B4-BE49-F238E27FC236}">
                <a16:creationId xmlns:a16="http://schemas.microsoft.com/office/drawing/2014/main" id="{09ECB204-A895-3754-EE81-7F69AC68F7F7}"/>
              </a:ext>
            </a:extLst>
          </p:cNvPr>
          <p:cNvSpPr txBox="1">
            <a:spLocks/>
          </p:cNvSpPr>
          <p:nvPr/>
        </p:nvSpPr>
        <p:spPr>
          <a:xfrm>
            <a:off x="152400" y="179408"/>
            <a:ext cx="8783255" cy="626768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solidFill>
                  <a:schemeClr val="tx1">
                    <a:lumMod val="50000"/>
                  </a:schemeClr>
                </a:solidFill>
              </a:rPr>
              <a:t>Here we are moving forward with Lasso Regression (L1 Regularization) Because :</a:t>
            </a:r>
            <a:endParaRPr lang="en-US" sz="2000" dirty="0">
              <a:solidFill>
                <a:schemeClr val="tx1">
                  <a:lumMod val="50000"/>
                </a:schemeClr>
              </a:solidFill>
            </a:endParaRPr>
          </a:p>
        </p:txBody>
      </p:sp>
      <p:sp>
        <p:nvSpPr>
          <p:cNvPr id="12" name="Content Placeholder 7">
            <a:extLst>
              <a:ext uri="{FF2B5EF4-FFF2-40B4-BE49-F238E27FC236}">
                <a16:creationId xmlns:a16="http://schemas.microsoft.com/office/drawing/2014/main" id="{F5FF3E60-776B-A31A-1712-224E270628A2}"/>
              </a:ext>
            </a:extLst>
          </p:cNvPr>
          <p:cNvSpPr txBox="1">
            <a:spLocks/>
          </p:cNvSpPr>
          <p:nvPr/>
        </p:nvSpPr>
        <p:spPr>
          <a:xfrm>
            <a:off x="4636625" y="1968342"/>
            <a:ext cx="7377647" cy="314767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latin typeface="Aparajita" panose="02020603050405020304" pitchFamily="18" charset="0"/>
                <a:cs typeface="Aparajita" panose="02020603050405020304" pitchFamily="18" charset="0"/>
              </a:rPr>
              <a:t>Our sales analysis provides highly reliable insights, with a model that explains 94% of the changes in our sales. To achieve this, we used a statistical technique called Lasso regression, which automatically identified and focused on only the most important features, effectively filtering out less relevant ones. This process yielded a precise model that confirmed our baseline sales figure of over 293 million dollar's the revenue we can expect without any marketing efforts. The model's predictions are, on average, only 13 million away from our actual sales, further confirming its accuracy. Ultimately, the analysis highlighted a strong long-term market trend and effective campaigns in newspaper and Google Display as our primary growth drivers, while also pinpointing channels like YouTube and Jio as areas requiring strategic re-evaluation.</a:t>
            </a:r>
            <a:endParaRPr lang="en-IN" sz="2000" dirty="0">
              <a:latin typeface="Aparajita" panose="02020603050405020304" pitchFamily="18" charset="0"/>
              <a:cs typeface="Aparajita" panose="02020603050405020304" pitchFamily="18" charset="0"/>
            </a:endParaRPr>
          </a:p>
          <a:p>
            <a:pPr marL="0" indent="0">
              <a:buNone/>
            </a:pPr>
            <a:endParaRPr lang="en-IN" sz="2000" b="1" dirty="0"/>
          </a:p>
          <a:p>
            <a:pPr marL="0" indent="0">
              <a:buNone/>
            </a:pPr>
            <a:endParaRPr lang="en-IN" sz="2000" b="1" dirty="0"/>
          </a:p>
          <a:p>
            <a:pPr marL="0" indent="0">
              <a:buNone/>
            </a:pPr>
            <a:endParaRPr lang="en-IN" sz="2000" b="1" dirty="0"/>
          </a:p>
          <a:p>
            <a:pPr marL="0" indent="0">
              <a:buNone/>
            </a:pPr>
            <a:br>
              <a:rPr lang="en-IN" sz="2000" b="1" dirty="0"/>
            </a:br>
            <a:br>
              <a:rPr lang="en-US" sz="2000" b="1" dirty="0">
                <a:latin typeface="Aparajita" panose="02020603050405020304" pitchFamily="18" charset="0"/>
                <a:cs typeface="Aparajita" panose="02020603050405020304" pitchFamily="18" charset="0"/>
              </a:rPr>
            </a:br>
            <a:endParaRPr lang="en-US" sz="2000" dirty="0">
              <a:latin typeface="Aparajita" panose="02020603050405020304" pitchFamily="18" charset="0"/>
              <a:cs typeface="Aparajita" panose="02020603050405020304" pitchFamily="18" charset="0"/>
            </a:endParaRPr>
          </a:p>
        </p:txBody>
      </p:sp>
      <p:pic>
        <p:nvPicPr>
          <p:cNvPr id="3" name="Picture 2">
            <a:extLst>
              <a:ext uri="{FF2B5EF4-FFF2-40B4-BE49-F238E27FC236}">
                <a16:creationId xmlns:a16="http://schemas.microsoft.com/office/drawing/2014/main" id="{6E8F665B-E053-EFCA-CCED-F46DD6FA715E}"/>
              </a:ext>
            </a:extLst>
          </p:cNvPr>
          <p:cNvPicPr>
            <a:picLocks noChangeAspect="1"/>
          </p:cNvPicPr>
          <p:nvPr/>
        </p:nvPicPr>
        <p:blipFill>
          <a:blip r:embed="rId3"/>
          <a:stretch>
            <a:fillRect/>
          </a:stretch>
        </p:blipFill>
        <p:spPr>
          <a:xfrm>
            <a:off x="248373" y="671976"/>
            <a:ext cx="4295654" cy="5856146"/>
          </a:xfrm>
          <a:prstGeom prst="rect">
            <a:avLst/>
          </a:prstGeom>
        </p:spPr>
      </p:pic>
    </p:spTree>
    <p:extLst>
      <p:ext uri="{BB962C8B-B14F-4D97-AF65-F5344CB8AC3E}">
        <p14:creationId xmlns:p14="http://schemas.microsoft.com/office/powerpoint/2010/main" val="1537113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7FCC9-2AB4-070D-89C1-90AA8D7BA9D9}"/>
            </a:ext>
          </a:extLst>
        </p:cNvPr>
        <p:cNvGrpSpPr/>
        <p:nvPr/>
      </p:nvGrpSpPr>
      <p:grpSpPr>
        <a:xfrm>
          <a:off x="0" y="0"/>
          <a:ext cx="0" cy="0"/>
          <a:chOff x="0" y="0"/>
          <a:chExt cx="0" cy="0"/>
        </a:xfrm>
      </p:grpSpPr>
      <p:sp>
        <p:nvSpPr>
          <p:cNvPr id="7" name="Content Placeholder 7">
            <a:extLst>
              <a:ext uri="{FF2B5EF4-FFF2-40B4-BE49-F238E27FC236}">
                <a16:creationId xmlns:a16="http://schemas.microsoft.com/office/drawing/2014/main" id="{39ECE464-B896-5E8D-1B39-7B6CFB6AED3A}"/>
              </a:ext>
            </a:extLst>
          </p:cNvPr>
          <p:cNvSpPr txBox="1">
            <a:spLocks/>
          </p:cNvSpPr>
          <p:nvPr/>
        </p:nvSpPr>
        <p:spPr>
          <a:xfrm>
            <a:off x="138896" y="127322"/>
            <a:ext cx="11921924" cy="673067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3600" b="1" dirty="0">
                <a:latin typeface="Aparajita" panose="02020603050405020304" pitchFamily="18" charset="0"/>
                <a:cs typeface="Aparajita" panose="02020603050405020304" pitchFamily="18" charset="0"/>
              </a:rPr>
              <a:t>Conclusion &amp; Recommendations</a:t>
            </a:r>
            <a:br>
              <a:rPr lang="en-IN" sz="3600" b="1" dirty="0">
                <a:latin typeface="Aparajita" panose="02020603050405020304" pitchFamily="18" charset="0"/>
                <a:cs typeface="Aparajita" panose="02020603050405020304" pitchFamily="18" charset="0"/>
              </a:rPr>
            </a:br>
            <a:r>
              <a:rPr lang="en-IN" sz="2400" b="1" dirty="0">
                <a:latin typeface="Aparajita" panose="02020603050405020304" pitchFamily="18" charset="0"/>
                <a:cs typeface="Aparajita" panose="02020603050405020304" pitchFamily="18" charset="0"/>
              </a:rPr>
              <a:t>1. Contribution Analysis : </a:t>
            </a:r>
            <a:br>
              <a:rPr lang="en-IN" sz="2400" dirty="0">
                <a:latin typeface="Aparajita" panose="02020603050405020304" pitchFamily="18" charset="0"/>
                <a:cs typeface="Aparajita" panose="02020603050405020304" pitchFamily="18" charset="0"/>
              </a:rPr>
            </a:br>
            <a:r>
              <a:rPr lang="en-US" sz="2000" dirty="0">
                <a:latin typeface="Aparajita" panose="02020603050405020304" pitchFamily="18" charset="0"/>
                <a:cs typeface="Aparajita" panose="02020603050405020304" pitchFamily="18" charset="0"/>
              </a:rPr>
              <a:t>Our analysis indicates a baseline sales figure of approximately 294 million, representing a strong foundation. Our marketing efforts contribute to this, with Trade Promotions being the most effective channel, driving over 60 million in sales and accounting for nearly 19% of the total marketing contribution. Newspaper and Hotstar also show positive contributions. However, several channels, most notably TV, YouTube, and Jio, showed negative contributions in this model. I interpret these not as a negative impact on sales, but rather as an indication of zero or unmeasurable effectiveness in the current strategy, suggesting these channels are underperforming and require re-evaluation.</a:t>
            </a:r>
            <a:br>
              <a:rPr lang="en-US" sz="2000" dirty="0">
                <a:latin typeface="Aparajita" panose="02020603050405020304" pitchFamily="18" charset="0"/>
                <a:cs typeface="Aparajita" panose="02020603050405020304" pitchFamily="18" charset="0"/>
              </a:rPr>
            </a:br>
            <a:br>
              <a:rPr lang="en-US" sz="2000" dirty="0">
                <a:latin typeface="Aparajita" panose="02020603050405020304" pitchFamily="18" charset="0"/>
                <a:cs typeface="Aparajita" panose="02020603050405020304" pitchFamily="18" charset="0"/>
              </a:rPr>
            </a:br>
            <a:r>
              <a:rPr lang="en-IN" sz="2400" b="1" dirty="0">
                <a:latin typeface="Aparajita" panose="02020603050405020304" pitchFamily="18" charset="0"/>
                <a:cs typeface="Aparajita" panose="02020603050405020304" pitchFamily="18" charset="0"/>
              </a:rPr>
              <a:t>2</a:t>
            </a:r>
            <a:r>
              <a:rPr lang="en-IN" sz="2000" b="1" dirty="0">
                <a:latin typeface="Aparajita" panose="02020603050405020304" pitchFamily="18" charset="0"/>
                <a:cs typeface="Aparajita" panose="02020603050405020304" pitchFamily="18" charset="0"/>
              </a:rPr>
              <a:t>. </a:t>
            </a:r>
            <a:r>
              <a:rPr lang="en-IN" sz="2400" b="1" dirty="0">
                <a:latin typeface="Aparajita" panose="02020603050405020304" pitchFamily="18" charset="0"/>
                <a:cs typeface="Aparajita" panose="02020603050405020304" pitchFamily="18" charset="0"/>
              </a:rPr>
              <a:t>Return on Investments (ROI)</a:t>
            </a:r>
            <a:r>
              <a:rPr lang="en-IN" sz="2400" dirty="0">
                <a:latin typeface="Aparajita" panose="02020603050405020304" pitchFamily="18" charset="0"/>
                <a:cs typeface="Aparajita" panose="02020603050405020304" pitchFamily="18" charset="0"/>
              </a:rPr>
              <a:t>:</a:t>
            </a:r>
            <a:br>
              <a:rPr lang="en-IN" sz="2400" dirty="0">
                <a:latin typeface="Aparajita" panose="02020603050405020304" pitchFamily="18" charset="0"/>
                <a:cs typeface="Aparajita" panose="02020603050405020304" pitchFamily="18" charset="0"/>
              </a:rPr>
            </a:br>
            <a:r>
              <a:rPr lang="en-US" sz="2000" dirty="0">
                <a:latin typeface="Aparajita" panose="02020603050405020304" pitchFamily="18" charset="0"/>
                <a:cs typeface="Aparajita" panose="02020603050405020304" pitchFamily="18" charset="0"/>
              </a:rPr>
              <a:t>Our ROI analysis reveals that WhatsApp is our most efficient channel, generating 0.21 </a:t>
            </a:r>
            <a:r>
              <a:rPr lang="en-US" sz="2000" dirty="0" err="1">
                <a:latin typeface="Aparajita" panose="02020603050405020304" pitchFamily="18" charset="0"/>
                <a:cs typeface="Aparajita" panose="02020603050405020304" pitchFamily="18" charset="0"/>
              </a:rPr>
              <a:t>dollers</a:t>
            </a:r>
            <a:r>
              <a:rPr lang="en-US" sz="2000" dirty="0">
                <a:latin typeface="Aparajita" panose="02020603050405020304" pitchFamily="18" charset="0"/>
                <a:cs typeface="Aparajita" panose="02020603050405020304" pitchFamily="18" charset="0"/>
              </a:rPr>
              <a:t> in sales for every dollar spent. Newspaper and Hotstar also show positive returns, with ROIs of 0.17 </a:t>
            </a:r>
            <a:r>
              <a:rPr lang="en-US" sz="2000" dirty="0" err="1">
                <a:latin typeface="Aparajita" panose="02020603050405020304" pitchFamily="18" charset="0"/>
                <a:cs typeface="Aparajita" panose="02020603050405020304" pitchFamily="18" charset="0"/>
              </a:rPr>
              <a:t>dollersand</a:t>
            </a:r>
            <a:r>
              <a:rPr lang="en-US" sz="2000" dirty="0">
                <a:latin typeface="Aparajita" panose="02020603050405020304" pitchFamily="18" charset="0"/>
                <a:cs typeface="Aparajita" panose="02020603050405020304" pitchFamily="18" charset="0"/>
              </a:rPr>
              <a:t> 0.18 </a:t>
            </a:r>
            <a:r>
              <a:rPr lang="en-US" sz="2000" dirty="0" err="1">
                <a:latin typeface="Aparajita" panose="02020603050405020304" pitchFamily="18" charset="0"/>
                <a:cs typeface="Aparajita" panose="02020603050405020304" pitchFamily="18" charset="0"/>
              </a:rPr>
              <a:t>dollers</a:t>
            </a:r>
            <a:r>
              <a:rPr lang="en-US" sz="2000" dirty="0">
                <a:latin typeface="Aparajita" panose="02020603050405020304" pitchFamily="18" charset="0"/>
                <a:cs typeface="Aparajita" panose="02020603050405020304" pitchFamily="18" charset="0"/>
              </a:rPr>
              <a:t> respectively. While none of these are yet profitable (where ROI &gt; 1.0), they are the most effective at driving revenue from our investment. Conversely, channels with negative ROIs, such as TV, YouTube, and Jio, are currently ineffective at driving sales, and their budget should be re-evaluated and potentially reallocated to the higher-performing channels.</a:t>
            </a:r>
            <a:br>
              <a:rPr lang="en-US" sz="2000" dirty="0">
                <a:latin typeface="Aparajita" panose="02020603050405020304" pitchFamily="18" charset="0"/>
                <a:cs typeface="Aparajita" panose="02020603050405020304" pitchFamily="18" charset="0"/>
              </a:rPr>
            </a:br>
            <a:br>
              <a:rPr lang="en-US" sz="2000" dirty="0">
                <a:latin typeface="Aparajita" panose="02020603050405020304" pitchFamily="18" charset="0"/>
                <a:cs typeface="Aparajita" panose="02020603050405020304" pitchFamily="18" charset="0"/>
              </a:rPr>
            </a:br>
            <a:r>
              <a:rPr lang="en-US" sz="2400" dirty="0">
                <a:latin typeface="Aparajita" panose="02020603050405020304" pitchFamily="18" charset="0"/>
                <a:cs typeface="Aparajita" panose="02020603050405020304" pitchFamily="18" charset="0"/>
              </a:rPr>
              <a:t>3. </a:t>
            </a:r>
            <a:r>
              <a:rPr lang="en-IN" sz="2400" b="1" dirty="0">
                <a:latin typeface="Aparajita" panose="02020603050405020304" pitchFamily="18" charset="0"/>
                <a:cs typeface="Aparajita" panose="02020603050405020304" pitchFamily="18" charset="0"/>
              </a:rPr>
              <a:t>Budget Allocation Recommendation :</a:t>
            </a:r>
            <a:br>
              <a:rPr lang="en-IN" sz="2400" b="1" dirty="0">
                <a:latin typeface="Aparajita" panose="02020603050405020304" pitchFamily="18" charset="0"/>
                <a:cs typeface="Aparajita" panose="02020603050405020304" pitchFamily="18" charset="0"/>
              </a:rPr>
            </a:br>
            <a:r>
              <a:rPr lang="en-US" sz="2000" dirty="0">
                <a:latin typeface="Aparajita" panose="02020603050405020304" pitchFamily="18" charset="0"/>
                <a:cs typeface="Aparajita" panose="02020603050405020304" pitchFamily="18" charset="0"/>
              </a:rPr>
              <a:t>Based on the analysis, my recommendations for budget allocation are clear and data-driven. The channel with the highest ROI is WhatsApp, and I would therefore recommend increasing investment in this area by reallocating funds from lower-performing channels to maximize our return. Conversely, the channel with the lowest or negative ROI is Jio, indicating it is not an effective driver of sales. I would recommend either a significant decrease in its budget or a complete re-evaluation of our strategy for this platform. This strategic shift will ensure our marketing spend is optimized and generates the highest possible sales contribution.</a:t>
            </a:r>
            <a:endParaRPr lang="en-IN" sz="2000" dirty="0">
              <a:latin typeface="Aparajita" panose="02020603050405020304" pitchFamily="18" charset="0"/>
              <a:cs typeface="Aparajita" panose="02020603050405020304" pitchFamily="18" charset="0"/>
            </a:endParaRPr>
          </a:p>
          <a:p>
            <a:pPr marL="0" indent="0">
              <a:buNone/>
            </a:pPr>
            <a:endParaRPr lang="en-US" sz="2000" dirty="0">
              <a:latin typeface="Aparajita" panose="02020603050405020304" pitchFamily="18" charset="0"/>
              <a:cs typeface="Aparajita" panose="02020603050405020304" pitchFamily="18" charset="0"/>
            </a:endParaRPr>
          </a:p>
          <a:p>
            <a:pPr marL="0" indent="0">
              <a:buNone/>
            </a:pPr>
            <a:endParaRPr lang="en-IN" sz="2400" dirty="0">
              <a:latin typeface="Aparajita" panose="02020603050405020304" pitchFamily="18" charset="0"/>
              <a:cs typeface="Aparajita" panose="02020603050405020304" pitchFamily="18" charset="0"/>
            </a:endParaRPr>
          </a:p>
          <a:p>
            <a:pPr marL="0" indent="0">
              <a:buNone/>
            </a:pPr>
            <a:endParaRPr lang="en-US" sz="3600" dirty="0">
              <a:solidFill>
                <a:schemeClr val="tx1">
                  <a:lumMod val="50000"/>
                </a:schemeClr>
              </a:solidFill>
              <a:latin typeface="Aparajita" panose="02020603050405020304" pitchFamily="18" charset="0"/>
              <a:cs typeface="Aparajita" panose="02020603050405020304" pitchFamily="18" charset="0"/>
            </a:endParaRPr>
          </a:p>
        </p:txBody>
      </p:sp>
    </p:spTree>
    <p:extLst>
      <p:ext uri="{BB962C8B-B14F-4D97-AF65-F5344CB8AC3E}">
        <p14:creationId xmlns:p14="http://schemas.microsoft.com/office/powerpoint/2010/main" val="1949451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p:txBody>
          <a:bodyPr/>
          <a:lstStyle/>
          <a:p>
            <a:r>
              <a:rPr lang="en-US" dirty="0"/>
              <a:t>thank you</a:t>
            </a:r>
          </a:p>
        </p:txBody>
      </p:sp>
      <p:sp>
        <p:nvSpPr>
          <p:cNvPr id="11" name="Content Placeholder 10">
            <a:extLst>
              <a:ext uri="{FF2B5EF4-FFF2-40B4-BE49-F238E27FC236}">
                <a16:creationId xmlns:a16="http://schemas.microsoft.com/office/drawing/2014/main" id="{C6DCC38C-603B-CCD0-2914-0BBCD4F4F74E}"/>
              </a:ext>
            </a:extLst>
          </p:cNvPr>
          <p:cNvSpPr>
            <a:spLocks noGrp="1"/>
          </p:cNvSpPr>
          <p:nvPr>
            <p:ph sz="quarter" idx="13"/>
          </p:nvPr>
        </p:nvSpPr>
        <p:spPr>
          <a:xfrm>
            <a:off x="6848856" y="914400"/>
            <a:ext cx="3867912" cy="5029200"/>
          </a:xfrm>
        </p:spPr>
        <p:txBody>
          <a:bodyPr anchor="ctr"/>
          <a:lstStyle/>
          <a:p>
            <a:r>
              <a:rPr lang="en-US" dirty="0"/>
              <a:t>Tushar Sutar</a:t>
            </a:r>
          </a:p>
          <a:p>
            <a:pPr lvl="1"/>
            <a:r>
              <a:rPr lang="en-US" dirty="0"/>
              <a:t>8668978920</a:t>
            </a:r>
          </a:p>
          <a:p>
            <a:pPr lvl="1"/>
            <a:r>
              <a:rPr lang="en-US" dirty="0">
                <a:hlinkClick r:id="rId3"/>
              </a:rPr>
              <a:t>tusharsutar27@gmail.com</a:t>
            </a:r>
            <a:endParaRPr lang="en-US" dirty="0"/>
          </a:p>
          <a:p>
            <a:endParaRPr lang="en-US" dirty="0"/>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3.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{83434695-5AB9-460B-8D6B-82154EC50DCC}tf11964407_win32</Template>
  <TotalTime>160</TotalTime>
  <Words>2303</Words>
  <Application>Microsoft Office PowerPoint</Application>
  <PresentationFormat>Widescreen</PresentationFormat>
  <Paragraphs>99</Paragraphs>
  <Slides>14</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Aparajita</vt:lpstr>
      <vt:lpstr>Arial</vt:lpstr>
      <vt:lpstr>Calibri</vt:lpstr>
      <vt:lpstr>Courier New</vt:lpstr>
      <vt:lpstr>Gill Sans Nova Light</vt:lpstr>
      <vt:lpstr>Sagona Book</vt:lpstr>
      <vt:lpstr>Custom</vt:lpstr>
      <vt:lpstr>Marketing Mix  Modelling Analysis</vt:lpstr>
      <vt:lpstr>PowerPoint Presentation</vt:lpstr>
      <vt:lpstr>Objective / Problem Statement  Business Question :  1. How can we quantify the impact of different marketing channels (e.g., TV, digital, print, promotions) on sales? 2. Which channels drive the most ROI, and where should future marketing budgets be allocated?   Why It Matters : Marketing spends are significant, but without measurement, it’s unclear which channels truly generate value.  A Market Mix Model (MMM) helps optimize spend allocation by separating the contribution of each channel from external factors (seasonality, pricing, competition).  Results guide data-driven budgeting decisions, leading to higher efficiency and revenue growth. </vt:lpstr>
      <vt:lpstr>Dataset Overview  Source :  Case study dataset (Case_Study_Input_File.xlsx). Contains 48 rows (time periods, likely weeks/months) and 41 columns (sales, marketing, distribution, etc.)   Key Features :  Sales KPIs : kpi_val_sales_mn, vol_sales_mn Marketing Inputs : trade_promo_spends_mn, consumer_promo_spends_mn, newspaper_spends_mn, tv_total_grp, digital spends,                  impressions, etc. Distribution Metrics :wtd_dist_max, num_dist_max Other Controls : newspaper impressions, possibly seasonality or external factors   Data Quality Checks : 1. No missing values found 2. No duplicate rows detected 3. Preprocessing: removed duplicates, checked for nulls, ensured data consistency   Data Size : 48 periods × 41 variables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2057_Tushar Sutar</dc:creator>
  <cp:lastModifiedBy>2057_Tushar Sutar</cp:lastModifiedBy>
  <cp:revision>1</cp:revision>
  <dcterms:created xsi:type="dcterms:W3CDTF">2025-09-13T15:28:11Z</dcterms:created>
  <dcterms:modified xsi:type="dcterms:W3CDTF">2025-09-13T18:09:06Z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